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7_9AD519B.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5" r:id="rId4"/>
  </p:sldMasterIdLst>
  <p:notesMasterIdLst>
    <p:notesMasterId r:id="rId6"/>
  </p:notesMasterIdLst>
  <p:sldIdLst>
    <p:sldId id="263" r:id="rId5"/>
  </p:sldIdLst>
  <p:sldSz cx="32918400" cy="21945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C37FF2A6-2C04-BA79-59B4-DACADB5F02FB}" name="Jasmine Wang" initials="JW" userId="S::wangj500@mcmaster.ca::af779e5c-a05a-4cd5-9328-8b6f804c3503"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6EDD3"/>
    <a:srgbClr val="CAE8C6"/>
    <a:srgbClr val="D2E1FE"/>
    <a:srgbClr val="D2EAFE"/>
    <a:srgbClr val="BEE1FE"/>
    <a:srgbClr val="EFDDEF"/>
    <a:srgbClr val="FBE1E1"/>
    <a:srgbClr val="F8CCCC"/>
    <a:srgbClr val="F8CCD2"/>
    <a:srgbClr val="F4AAB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5CA6DF-B2D4-C7BC-A9BA-E862802D165F}" v="3" dt="2026-04-06T02:23:36.299"/>
    <p1510:client id="{64A464EB-1124-4178-A3A4-ED90B24D8B83}" v="1047" dt="2026-04-06T04:14:54.801"/>
    <p1510:client id="{6633DFA5-935F-7325-3F48-EC4A3A8D23EF}" v="1" dt="2026-04-05T23:55:21.678"/>
    <p1510:client id="{6C931123-9FD2-4FBB-AAF5-9EFC2BC2E3C7}" v="11" dt="2026-04-06T03:59:47.708"/>
    <p1510:client id="{9B52B249-9091-A8D5-9165-B22FDF78E462}" v="2" dt="2026-04-06T03:54:18.46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12" Type="http://schemas.microsoft.com/office/2018/10/relationships/authors" Target="author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microsoft.com/office/2015/10/relationships/revisionInfo" Target="revisionInfo.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comments/modernComment_107_9AD519B.xml><?xml version="1.0" encoding="utf-8"?>
<p188:cmLst xmlns:a="http://schemas.openxmlformats.org/drawingml/2006/main" xmlns:r="http://schemas.openxmlformats.org/officeDocument/2006/relationships" xmlns:p188="http://schemas.microsoft.com/office/powerpoint/2018/8/main">
  <p188:cm id="{02483A85-D1DC-47D1-B327-79D352734DEF}" authorId="{C37FF2A6-2C04-BA79-59B4-DACADB5F02FB}" status="resolved" created="2026-04-03T00:34:38.611" complete="100000">
    <ac:deMkLst xmlns:ac="http://schemas.microsoft.com/office/drawing/2013/main/command">
      <pc:docMk xmlns:pc="http://schemas.microsoft.com/office/powerpoint/2013/main/command"/>
      <pc:sldMk xmlns:pc="http://schemas.microsoft.com/office/powerpoint/2013/main/command" cId="162353563" sldId="263"/>
      <ac:picMk id="110" creationId="{48E71AC4-37A1-C975-2DA9-4968FC1D79C9}"/>
    </ac:deMkLst>
    <p188:txBody>
      <a:bodyPr/>
      <a:lstStyle/>
      <a:p>
        <a:r>
          <a:rPr lang="en-CA"/>
          <a:t>Replace with educational resources</a:t>
        </a:r>
      </a:p>
    </p188:txBody>
  </p188:cm>
  <p188:cm id="{B300360F-5C08-45ED-8A73-E9B4210D98EE}" authorId="{C37FF2A6-2C04-BA79-59B4-DACADB5F02FB}" status="resolved" created="2026-04-03T00:34:52.402" complete="100000">
    <ac:deMkLst xmlns:ac="http://schemas.microsoft.com/office/drawing/2013/main/command">
      <pc:docMk xmlns:pc="http://schemas.microsoft.com/office/powerpoint/2013/main/command"/>
      <pc:sldMk xmlns:pc="http://schemas.microsoft.com/office/powerpoint/2013/main/command" cId="162353563" sldId="263"/>
      <ac:spMk id="113" creationId="{C743268B-714C-8DA1-E5C3-DA97C6E67316}"/>
    </ac:deMkLst>
    <p188:txBody>
      <a:bodyPr/>
      <a:lstStyle/>
      <a:p>
        <a:r>
          <a:rPr lang="en-CA"/>
          <a:t>Front end stufff~~~</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192B8E-91AC-406F-A440-A816BBF69C3C}" type="datetimeFigureOut">
              <a:rPr lang="en-CA" smtClean="0"/>
              <a:t>2026-04-06</a:t>
            </a:fld>
            <a:endParaRPr lang="en-CA"/>
          </a:p>
        </p:txBody>
      </p:sp>
      <p:sp>
        <p:nvSpPr>
          <p:cNvPr id="4" name="Slide Image Placeholder 3"/>
          <p:cNvSpPr>
            <a:spLocks noGrp="1" noRot="1" noChangeAspect="1"/>
          </p:cNvSpPr>
          <p:nvPr>
            <p:ph type="sldImg" idx="2"/>
          </p:nvPr>
        </p:nvSpPr>
        <p:spPr>
          <a:xfrm>
            <a:off x="1114425" y="1143000"/>
            <a:ext cx="462915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3C10CA0-498B-4DA9-BFC2-85E58392B11B}" type="slidenum">
              <a:rPr lang="en-CA" smtClean="0"/>
              <a:t>‹#›</a:t>
            </a:fld>
            <a:endParaRPr lang="en-CA"/>
          </a:p>
        </p:txBody>
      </p:sp>
    </p:spTree>
    <p:extLst>
      <p:ext uri="{BB962C8B-B14F-4D97-AF65-F5344CB8AC3E}">
        <p14:creationId xmlns:p14="http://schemas.microsoft.com/office/powerpoint/2010/main" val="1265435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D3C10CA0-498B-4DA9-BFC2-85E58392B11B}" type="slidenum">
              <a:rPr lang="en-CA" smtClean="0"/>
              <a:t>1</a:t>
            </a:fld>
            <a:endParaRPr lang="en-CA"/>
          </a:p>
        </p:txBody>
      </p:sp>
    </p:spTree>
    <p:extLst>
      <p:ext uri="{BB962C8B-B14F-4D97-AF65-F5344CB8AC3E}">
        <p14:creationId xmlns:p14="http://schemas.microsoft.com/office/powerpoint/2010/main" val="2327527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ResearchPoster-48x24">
    <p:spTree>
      <p:nvGrpSpPr>
        <p:cNvPr id="1" name=""/>
        <p:cNvGrpSpPr/>
        <p:nvPr/>
      </p:nvGrpSpPr>
      <p:grpSpPr>
        <a:xfrm>
          <a:off x="0" y="0"/>
          <a:ext cx="0" cy="0"/>
          <a:chOff x="0" y="0"/>
          <a:chExt cx="0" cy="0"/>
        </a:xfrm>
      </p:grpSpPr>
      <p:pic>
        <p:nvPicPr>
          <p:cNvPr id="7" name="McMaster University Health Sciences Logo" descr="McMaster University Health Sciences Logo">
            <a:extLst>
              <a:ext uri="{FF2B5EF4-FFF2-40B4-BE49-F238E27FC236}">
                <a16:creationId xmlns:a16="http://schemas.microsoft.com/office/drawing/2014/main" id="{5C6B30ED-3FCC-E515-6585-8D1157471B1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1420177" y="1815225"/>
            <a:ext cx="5423766" cy="1134382"/>
          </a:xfrm>
          <a:prstGeom prst="rect">
            <a:avLst/>
          </a:prstGeom>
        </p:spPr>
      </p:pic>
      <p:sp>
        <p:nvSpPr>
          <p:cNvPr id="41" name="Heading">
            <a:extLst>
              <a:ext uri="{FF2B5EF4-FFF2-40B4-BE49-F238E27FC236}">
                <a16:creationId xmlns:a16="http://schemas.microsoft.com/office/drawing/2014/main" id="{FB8CC234-BD5F-EB1C-E1DB-CFA959A92B15}"/>
              </a:ext>
            </a:extLst>
          </p:cNvPr>
          <p:cNvSpPr>
            <a:spLocks noGrp="1"/>
          </p:cNvSpPr>
          <p:nvPr>
            <p:ph type="body" sz="quarter" idx="35" hasCustomPrompt="1"/>
          </p:nvPr>
        </p:nvSpPr>
        <p:spPr>
          <a:xfrm>
            <a:off x="7242175" y="1645083"/>
            <a:ext cx="12504699" cy="1031391"/>
          </a:xfrm>
          <a:prstGeom prst="rect">
            <a:avLst/>
          </a:prstGeom>
        </p:spPr>
        <p:txBody>
          <a:bodyPr/>
          <a:lstStyle>
            <a:lvl1pPr marL="0" indent="0">
              <a:buNone/>
              <a:defRPr sz="3500" b="1">
                <a:solidFill>
                  <a:schemeClr val="accent1"/>
                </a:solidFill>
              </a:defRPr>
            </a:lvl1pPr>
          </a:lstStyle>
          <a:p>
            <a:pPr lvl="0"/>
            <a:r>
              <a:rPr lang="en-US"/>
              <a:t>First Researcher MD FRCPC1, Second Researcher MSc2, Third Researcher PhD3 and the Investigators*</a:t>
            </a:r>
          </a:p>
        </p:txBody>
      </p:sp>
      <p:sp>
        <p:nvSpPr>
          <p:cNvPr id="33" name="Subheading">
            <a:extLst>
              <a:ext uri="{FF2B5EF4-FFF2-40B4-BE49-F238E27FC236}">
                <a16:creationId xmlns:a16="http://schemas.microsoft.com/office/drawing/2014/main" id="{78AE7299-3A5C-B0C1-101F-953C23E63300}"/>
              </a:ext>
            </a:extLst>
          </p:cNvPr>
          <p:cNvSpPr>
            <a:spLocks noGrp="1"/>
          </p:cNvSpPr>
          <p:nvPr>
            <p:ph type="body" sz="quarter" idx="19" hasCustomPrompt="1"/>
          </p:nvPr>
        </p:nvSpPr>
        <p:spPr>
          <a:xfrm>
            <a:off x="7242176" y="2910706"/>
            <a:ext cx="12504698" cy="562554"/>
          </a:xfrm>
          <a:prstGeom prst="rect">
            <a:avLst/>
          </a:prstGeom>
        </p:spPr>
        <p:txBody>
          <a:bodyPr/>
          <a:lstStyle>
            <a:lvl1pPr marL="0" indent="0">
              <a:buNone/>
              <a:defRPr sz="1800">
                <a:solidFill>
                  <a:schemeClr val="accent3"/>
                </a:solidFill>
              </a:defRPr>
            </a:lvl1pPr>
            <a:lvl2pPr marL="2194560" indent="0">
              <a:buNone/>
              <a:defRPr/>
            </a:lvl2pPr>
            <a:lvl3pPr marL="4389120" indent="0">
              <a:buNone/>
              <a:defRPr/>
            </a:lvl3pPr>
            <a:lvl4pPr marL="6583680" indent="0">
              <a:buNone/>
              <a:defRPr/>
            </a:lvl4pPr>
            <a:lvl5pPr marL="8778240" indent="0">
              <a:buNone/>
              <a:defRPr/>
            </a:lvl5pPr>
          </a:lstStyle>
          <a:p>
            <a:r>
              <a:rPr lang="en-US">
                <a:solidFill>
                  <a:schemeClr val="accent3"/>
                </a:solidFill>
              </a:rPr>
              <a:t>1 Department, McMaster University, Hamilton, Canada. 2 Research Group, Group Health Sciences Centre, City, Canada. 3 Department, University of City, City, Canada.</a:t>
            </a:r>
          </a:p>
        </p:txBody>
      </p:sp>
      <p:cxnSp>
        <p:nvCxnSpPr>
          <p:cNvPr id="24" name="Straight Connector 23">
            <a:extLst>
              <a:ext uri="{FF2B5EF4-FFF2-40B4-BE49-F238E27FC236}">
                <a16:creationId xmlns:a16="http://schemas.microsoft.com/office/drawing/2014/main" id="{78B36112-8AA6-F707-03FB-CA3D40F25FC6}"/>
              </a:ext>
            </a:extLst>
          </p:cNvPr>
          <p:cNvCxnSpPr>
            <a:cxnSpLocks/>
          </p:cNvCxnSpPr>
          <p:nvPr userDrawn="1"/>
        </p:nvCxnSpPr>
        <p:spPr>
          <a:xfrm>
            <a:off x="0" y="3951288"/>
            <a:ext cx="25136178"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40" name="Text Placeholder 39">
            <a:extLst>
              <a:ext uri="{FF2B5EF4-FFF2-40B4-BE49-F238E27FC236}">
                <a16:creationId xmlns:a16="http://schemas.microsoft.com/office/drawing/2014/main" id="{EE885D2C-DD3E-0FAA-E8C7-376929E23617}"/>
              </a:ext>
            </a:extLst>
          </p:cNvPr>
          <p:cNvSpPr>
            <a:spLocks noGrp="1"/>
          </p:cNvSpPr>
          <p:nvPr>
            <p:ph type="body" sz="quarter" idx="20" hasCustomPrompt="1"/>
          </p:nvPr>
        </p:nvSpPr>
        <p:spPr>
          <a:xfrm>
            <a:off x="1409699" y="4601722"/>
            <a:ext cx="5434243" cy="503052"/>
          </a:xfrm>
          <a:prstGeom prst="rect">
            <a:avLst/>
          </a:prstGeom>
        </p:spPr>
        <p:txBody>
          <a:bodyPr/>
          <a:lstStyle>
            <a:lvl1pPr marL="0" indent="0">
              <a:buNone/>
              <a:defRPr sz="3000" b="1">
                <a:solidFill>
                  <a:schemeClr val="accent3"/>
                </a:solidFill>
              </a:defRPr>
            </a:lvl1pPr>
          </a:lstStyle>
          <a:p>
            <a:pPr lvl="0"/>
            <a:r>
              <a:rPr lang="en-US"/>
              <a:t>Introduction Copy</a:t>
            </a:r>
          </a:p>
        </p:txBody>
      </p:sp>
      <p:cxnSp>
        <p:nvCxnSpPr>
          <p:cNvPr id="43" name="Straight Connector 42">
            <a:extLst>
              <a:ext uri="{FF2B5EF4-FFF2-40B4-BE49-F238E27FC236}">
                <a16:creationId xmlns:a16="http://schemas.microsoft.com/office/drawing/2014/main" id="{404585DF-C692-92C3-3FA9-885ED5E988D0}"/>
              </a:ext>
            </a:extLst>
          </p:cNvPr>
          <p:cNvCxnSpPr>
            <a:cxnSpLocks/>
          </p:cNvCxnSpPr>
          <p:nvPr userDrawn="1"/>
        </p:nvCxnSpPr>
        <p:spPr>
          <a:xfrm>
            <a:off x="1409699" y="5340470"/>
            <a:ext cx="5434243"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46" name="Text Placeholder 45">
            <a:extLst>
              <a:ext uri="{FF2B5EF4-FFF2-40B4-BE49-F238E27FC236}">
                <a16:creationId xmlns:a16="http://schemas.microsoft.com/office/drawing/2014/main" id="{9B1231B6-E164-542A-2996-39BC8DE51A4E}"/>
              </a:ext>
            </a:extLst>
          </p:cNvPr>
          <p:cNvSpPr>
            <a:spLocks noGrp="1"/>
          </p:cNvSpPr>
          <p:nvPr>
            <p:ph type="body" sz="quarter" idx="21"/>
          </p:nvPr>
        </p:nvSpPr>
        <p:spPr>
          <a:xfrm>
            <a:off x="1409699" y="5597487"/>
            <a:ext cx="5434243" cy="5375303"/>
          </a:xfrm>
          <a:prstGeom prst="rect">
            <a:avLst/>
          </a:prstGeom>
        </p:spPr>
        <p:txBody>
          <a:bodyPr wrap="square">
            <a:noAutofit/>
          </a:bodyPr>
          <a:lstStyle>
            <a:lvl1pPr>
              <a:lnSpc>
                <a:spcPct val="110000"/>
              </a:lnSpc>
              <a:spcBef>
                <a:spcPts val="2400"/>
              </a:spcBef>
              <a:spcAft>
                <a:spcPts val="50"/>
              </a:spcAft>
              <a:defRPr sz="1800"/>
            </a:lvl1pPr>
            <a:lvl2pPr>
              <a:lnSpc>
                <a:spcPct val="110000"/>
              </a:lnSpc>
              <a:spcBef>
                <a:spcPts val="2400"/>
              </a:spcBef>
              <a:spcAft>
                <a:spcPts val="50"/>
              </a:spcAft>
              <a:defRPr sz="1600"/>
            </a:lvl2pPr>
            <a:lvl3pPr>
              <a:defRPr sz="2100"/>
            </a:lvl3pPr>
            <a:lvl4pPr>
              <a:defRPr sz="1900"/>
            </a:lvl4pPr>
            <a:lvl5pPr>
              <a:defRPr sz="1700"/>
            </a:lvl5pPr>
          </a:lstStyle>
          <a:p>
            <a:pPr lvl="0"/>
            <a:r>
              <a:rPr lang="en-US"/>
              <a:t>Click to edit Master text styles</a:t>
            </a:r>
          </a:p>
          <a:p>
            <a:pPr lvl="1"/>
            <a:r>
              <a:rPr lang="en-US"/>
              <a:t>Second level</a:t>
            </a:r>
          </a:p>
        </p:txBody>
      </p:sp>
      <p:sp>
        <p:nvSpPr>
          <p:cNvPr id="47" name="Text Placeholder 39">
            <a:extLst>
              <a:ext uri="{FF2B5EF4-FFF2-40B4-BE49-F238E27FC236}">
                <a16:creationId xmlns:a16="http://schemas.microsoft.com/office/drawing/2014/main" id="{E1AD0B93-6F07-F095-2BEF-AE35968EB9BA}"/>
              </a:ext>
            </a:extLst>
          </p:cNvPr>
          <p:cNvSpPr>
            <a:spLocks noGrp="1"/>
          </p:cNvSpPr>
          <p:nvPr>
            <p:ph type="body" sz="quarter" idx="36" hasCustomPrompt="1"/>
          </p:nvPr>
        </p:nvSpPr>
        <p:spPr>
          <a:xfrm>
            <a:off x="1420177" y="11463802"/>
            <a:ext cx="5423766" cy="503052"/>
          </a:xfrm>
          <a:prstGeom prst="rect">
            <a:avLst/>
          </a:prstGeom>
        </p:spPr>
        <p:txBody>
          <a:bodyPr/>
          <a:lstStyle>
            <a:lvl1pPr marL="0" indent="0">
              <a:buNone/>
              <a:defRPr sz="3000" b="1">
                <a:solidFill>
                  <a:schemeClr val="accent3"/>
                </a:solidFill>
              </a:defRPr>
            </a:lvl1pPr>
          </a:lstStyle>
          <a:p>
            <a:pPr lvl="0"/>
            <a:r>
              <a:rPr lang="en-US"/>
              <a:t>Objective Copy</a:t>
            </a:r>
          </a:p>
        </p:txBody>
      </p:sp>
      <p:cxnSp>
        <p:nvCxnSpPr>
          <p:cNvPr id="48" name="Straight Connector 47">
            <a:extLst>
              <a:ext uri="{FF2B5EF4-FFF2-40B4-BE49-F238E27FC236}">
                <a16:creationId xmlns:a16="http://schemas.microsoft.com/office/drawing/2014/main" id="{FB4CFFFB-ED07-4B0A-C112-3837B34E5CB3}"/>
              </a:ext>
            </a:extLst>
          </p:cNvPr>
          <p:cNvCxnSpPr>
            <a:cxnSpLocks/>
          </p:cNvCxnSpPr>
          <p:nvPr userDrawn="1"/>
        </p:nvCxnSpPr>
        <p:spPr>
          <a:xfrm>
            <a:off x="1396244" y="12202550"/>
            <a:ext cx="5458175"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3" name="Text Placeholder 45">
            <a:extLst>
              <a:ext uri="{FF2B5EF4-FFF2-40B4-BE49-F238E27FC236}">
                <a16:creationId xmlns:a16="http://schemas.microsoft.com/office/drawing/2014/main" id="{36A8B1CE-C853-2C8D-DAB9-9EE30349B925}"/>
              </a:ext>
            </a:extLst>
          </p:cNvPr>
          <p:cNvSpPr>
            <a:spLocks noGrp="1"/>
          </p:cNvSpPr>
          <p:nvPr>
            <p:ph type="body" sz="quarter" idx="48"/>
          </p:nvPr>
        </p:nvSpPr>
        <p:spPr>
          <a:xfrm>
            <a:off x="1420177" y="12463830"/>
            <a:ext cx="5423766" cy="6295393"/>
          </a:xfrm>
          <a:prstGeom prst="rect">
            <a:avLst/>
          </a:prstGeom>
        </p:spPr>
        <p:txBody>
          <a:bodyPr wrap="square">
            <a:noAutofit/>
          </a:bodyPr>
          <a:lstStyle>
            <a:lvl1pPr>
              <a:lnSpc>
                <a:spcPct val="110000"/>
              </a:lnSpc>
              <a:spcBef>
                <a:spcPts val="2400"/>
              </a:spcBef>
              <a:spcAft>
                <a:spcPts val="50"/>
              </a:spcAft>
              <a:defRPr sz="1800"/>
            </a:lvl1pPr>
            <a:lvl2pPr>
              <a:lnSpc>
                <a:spcPct val="110000"/>
              </a:lnSpc>
              <a:spcBef>
                <a:spcPts val="2400"/>
              </a:spcBef>
              <a:spcAft>
                <a:spcPts val="50"/>
              </a:spcAft>
              <a:defRPr sz="1600"/>
            </a:lvl2pPr>
            <a:lvl3pPr>
              <a:defRPr sz="2100"/>
            </a:lvl3pPr>
            <a:lvl4pPr>
              <a:defRPr sz="1900"/>
            </a:lvl4pPr>
            <a:lvl5pPr>
              <a:defRPr sz="1700"/>
            </a:lvl5pPr>
          </a:lstStyle>
          <a:p>
            <a:pPr lvl="0"/>
            <a:r>
              <a:rPr lang="en-US"/>
              <a:t>Click to edit Master text styles</a:t>
            </a:r>
          </a:p>
          <a:p>
            <a:pPr lvl="1"/>
            <a:r>
              <a:rPr lang="en-US"/>
              <a:t>Second level</a:t>
            </a:r>
          </a:p>
        </p:txBody>
      </p:sp>
      <p:sp>
        <p:nvSpPr>
          <p:cNvPr id="50" name="Text Placeholder 39">
            <a:extLst>
              <a:ext uri="{FF2B5EF4-FFF2-40B4-BE49-F238E27FC236}">
                <a16:creationId xmlns:a16="http://schemas.microsoft.com/office/drawing/2014/main" id="{6367F0B1-6FF6-E70D-7294-480E9FDAC8DB}"/>
              </a:ext>
            </a:extLst>
          </p:cNvPr>
          <p:cNvSpPr>
            <a:spLocks noGrp="1"/>
          </p:cNvSpPr>
          <p:nvPr>
            <p:ph type="body" sz="quarter" idx="38" hasCustomPrompt="1"/>
          </p:nvPr>
        </p:nvSpPr>
        <p:spPr>
          <a:xfrm>
            <a:off x="7242175" y="4601722"/>
            <a:ext cx="5403287" cy="503052"/>
          </a:xfrm>
          <a:prstGeom prst="rect">
            <a:avLst/>
          </a:prstGeom>
        </p:spPr>
        <p:txBody>
          <a:bodyPr/>
          <a:lstStyle>
            <a:lvl1pPr marL="0" indent="0">
              <a:buNone/>
              <a:defRPr sz="3000" b="1">
                <a:solidFill>
                  <a:schemeClr val="accent3"/>
                </a:solidFill>
              </a:defRPr>
            </a:lvl1pPr>
          </a:lstStyle>
          <a:p>
            <a:pPr lvl="0"/>
            <a:r>
              <a:rPr lang="en-US"/>
              <a:t>Subjects and Methods Copy</a:t>
            </a:r>
          </a:p>
        </p:txBody>
      </p:sp>
      <p:cxnSp>
        <p:nvCxnSpPr>
          <p:cNvPr id="56" name="Straight Connector 55">
            <a:extLst>
              <a:ext uri="{FF2B5EF4-FFF2-40B4-BE49-F238E27FC236}">
                <a16:creationId xmlns:a16="http://schemas.microsoft.com/office/drawing/2014/main" id="{20DB9F04-6C54-65A7-8824-154B29A34424}"/>
              </a:ext>
            </a:extLst>
          </p:cNvPr>
          <p:cNvCxnSpPr>
            <a:cxnSpLocks/>
          </p:cNvCxnSpPr>
          <p:nvPr userDrawn="1"/>
        </p:nvCxnSpPr>
        <p:spPr>
          <a:xfrm>
            <a:off x="7242175" y="5340470"/>
            <a:ext cx="5443766"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57" name="Picture Placeholder 56">
            <a:extLst>
              <a:ext uri="{FF2B5EF4-FFF2-40B4-BE49-F238E27FC236}">
                <a16:creationId xmlns:a16="http://schemas.microsoft.com/office/drawing/2014/main" id="{D8E1E85D-AF0A-419A-7424-19B21C0127D8}"/>
              </a:ext>
            </a:extLst>
          </p:cNvPr>
          <p:cNvSpPr>
            <a:spLocks noGrp="1"/>
          </p:cNvSpPr>
          <p:nvPr>
            <p:ph type="pic" sz="quarter" idx="25"/>
          </p:nvPr>
        </p:nvSpPr>
        <p:spPr>
          <a:xfrm>
            <a:off x="7234176" y="5597487"/>
            <a:ext cx="5443767" cy="6425087"/>
          </a:xfrm>
          <a:prstGeom prst="rect">
            <a:avLst/>
          </a:prstGeom>
        </p:spPr>
        <p:txBody>
          <a:bodyPr/>
          <a:lstStyle>
            <a:lvl1pPr>
              <a:defRPr sz="2000"/>
            </a:lvl1pPr>
          </a:lstStyle>
          <a:p>
            <a:endParaRPr lang="en-US"/>
          </a:p>
        </p:txBody>
      </p:sp>
      <p:sp>
        <p:nvSpPr>
          <p:cNvPr id="4" name="Text Placeholder 45">
            <a:extLst>
              <a:ext uri="{FF2B5EF4-FFF2-40B4-BE49-F238E27FC236}">
                <a16:creationId xmlns:a16="http://schemas.microsoft.com/office/drawing/2014/main" id="{E0D8DB15-9348-9B2D-5B93-4E2781E93166}"/>
              </a:ext>
            </a:extLst>
          </p:cNvPr>
          <p:cNvSpPr>
            <a:spLocks noGrp="1"/>
          </p:cNvSpPr>
          <p:nvPr>
            <p:ph type="body" sz="quarter" idx="49"/>
          </p:nvPr>
        </p:nvSpPr>
        <p:spPr>
          <a:xfrm>
            <a:off x="7229964" y="12491829"/>
            <a:ext cx="5451765" cy="6267397"/>
          </a:xfrm>
          <a:prstGeom prst="rect">
            <a:avLst/>
          </a:prstGeom>
        </p:spPr>
        <p:txBody>
          <a:bodyPr wrap="square">
            <a:noAutofit/>
          </a:bodyPr>
          <a:lstStyle>
            <a:lvl1pPr>
              <a:lnSpc>
                <a:spcPct val="110000"/>
              </a:lnSpc>
              <a:spcBef>
                <a:spcPts val="2400"/>
              </a:spcBef>
              <a:spcAft>
                <a:spcPts val="50"/>
              </a:spcAft>
              <a:defRPr sz="1800"/>
            </a:lvl1pPr>
            <a:lvl2pPr>
              <a:lnSpc>
                <a:spcPct val="110000"/>
              </a:lnSpc>
              <a:spcBef>
                <a:spcPts val="2400"/>
              </a:spcBef>
              <a:spcAft>
                <a:spcPts val="50"/>
              </a:spcAft>
              <a:defRPr sz="1600"/>
            </a:lvl2pPr>
            <a:lvl3pPr>
              <a:defRPr sz="2100"/>
            </a:lvl3pPr>
            <a:lvl4pPr>
              <a:defRPr sz="1900"/>
            </a:lvl4pPr>
            <a:lvl5pPr>
              <a:defRPr sz="1700"/>
            </a:lvl5pPr>
          </a:lstStyle>
          <a:p>
            <a:pPr lvl="0"/>
            <a:r>
              <a:rPr lang="en-US"/>
              <a:t>Click to edit Master text styles</a:t>
            </a:r>
          </a:p>
          <a:p>
            <a:pPr lvl="1"/>
            <a:r>
              <a:rPr lang="en-US"/>
              <a:t>Second level</a:t>
            </a:r>
          </a:p>
        </p:txBody>
      </p:sp>
      <p:sp>
        <p:nvSpPr>
          <p:cNvPr id="66" name="Text Placeholder 39">
            <a:extLst>
              <a:ext uri="{FF2B5EF4-FFF2-40B4-BE49-F238E27FC236}">
                <a16:creationId xmlns:a16="http://schemas.microsoft.com/office/drawing/2014/main" id="{5AE18460-D43F-B0CF-109D-295E90BA3C04}"/>
              </a:ext>
            </a:extLst>
          </p:cNvPr>
          <p:cNvSpPr>
            <a:spLocks noGrp="1"/>
          </p:cNvSpPr>
          <p:nvPr>
            <p:ph type="body" sz="quarter" idx="40" hasCustomPrompt="1"/>
          </p:nvPr>
        </p:nvSpPr>
        <p:spPr>
          <a:xfrm>
            <a:off x="13024699" y="4601722"/>
            <a:ext cx="5487473" cy="503052"/>
          </a:xfrm>
          <a:prstGeom prst="rect">
            <a:avLst/>
          </a:prstGeom>
        </p:spPr>
        <p:txBody>
          <a:bodyPr/>
          <a:lstStyle>
            <a:lvl1pPr marL="0" indent="0">
              <a:buNone/>
              <a:defRPr sz="3000" b="1">
                <a:solidFill>
                  <a:schemeClr val="accent3"/>
                </a:solidFill>
              </a:defRPr>
            </a:lvl1pPr>
          </a:lstStyle>
          <a:p>
            <a:pPr lvl="0"/>
            <a:r>
              <a:rPr lang="en-US"/>
              <a:t>Results Copy</a:t>
            </a:r>
          </a:p>
        </p:txBody>
      </p:sp>
      <p:cxnSp>
        <p:nvCxnSpPr>
          <p:cNvPr id="73" name="Straight Connector 72">
            <a:extLst>
              <a:ext uri="{FF2B5EF4-FFF2-40B4-BE49-F238E27FC236}">
                <a16:creationId xmlns:a16="http://schemas.microsoft.com/office/drawing/2014/main" id="{29F4DD74-2C18-12DE-F822-174995512097}"/>
              </a:ext>
            </a:extLst>
          </p:cNvPr>
          <p:cNvCxnSpPr>
            <a:cxnSpLocks/>
          </p:cNvCxnSpPr>
          <p:nvPr userDrawn="1"/>
        </p:nvCxnSpPr>
        <p:spPr>
          <a:xfrm>
            <a:off x="13020240" y="5340470"/>
            <a:ext cx="549200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5" name="Text Placeholder 45">
            <a:extLst>
              <a:ext uri="{FF2B5EF4-FFF2-40B4-BE49-F238E27FC236}">
                <a16:creationId xmlns:a16="http://schemas.microsoft.com/office/drawing/2014/main" id="{81885B63-CF16-F74C-763D-C2206A38E844}"/>
              </a:ext>
            </a:extLst>
          </p:cNvPr>
          <p:cNvSpPr>
            <a:spLocks noGrp="1"/>
          </p:cNvSpPr>
          <p:nvPr>
            <p:ph type="body" sz="quarter" idx="50"/>
          </p:nvPr>
        </p:nvSpPr>
        <p:spPr>
          <a:xfrm>
            <a:off x="13046196" y="5574042"/>
            <a:ext cx="5465641" cy="7757240"/>
          </a:xfrm>
          <a:prstGeom prst="rect">
            <a:avLst/>
          </a:prstGeom>
        </p:spPr>
        <p:txBody>
          <a:bodyPr wrap="square">
            <a:noAutofit/>
          </a:bodyPr>
          <a:lstStyle>
            <a:lvl1pPr>
              <a:lnSpc>
                <a:spcPct val="110000"/>
              </a:lnSpc>
              <a:spcBef>
                <a:spcPts val="2400"/>
              </a:spcBef>
              <a:spcAft>
                <a:spcPts val="50"/>
              </a:spcAft>
              <a:defRPr sz="1800"/>
            </a:lvl1pPr>
            <a:lvl2pPr>
              <a:lnSpc>
                <a:spcPct val="110000"/>
              </a:lnSpc>
              <a:spcBef>
                <a:spcPts val="2400"/>
              </a:spcBef>
              <a:spcAft>
                <a:spcPts val="50"/>
              </a:spcAft>
              <a:defRPr sz="1600"/>
            </a:lvl2pPr>
            <a:lvl3pPr>
              <a:defRPr sz="2100"/>
            </a:lvl3pPr>
            <a:lvl4pPr>
              <a:defRPr sz="1900"/>
            </a:lvl4pPr>
            <a:lvl5pPr>
              <a:defRPr sz="1700"/>
            </a:lvl5pPr>
          </a:lstStyle>
          <a:p>
            <a:pPr lvl="0"/>
            <a:r>
              <a:rPr lang="en-US"/>
              <a:t>Click to edit Master text styles</a:t>
            </a:r>
          </a:p>
          <a:p>
            <a:pPr lvl="1"/>
            <a:r>
              <a:rPr lang="en-US"/>
              <a:t>Second level</a:t>
            </a:r>
          </a:p>
        </p:txBody>
      </p:sp>
      <p:sp>
        <p:nvSpPr>
          <p:cNvPr id="60" name="Table Placeholder 59">
            <a:extLst>
              <a:ext uri="{FF2B5EF4-FFF2-40B4-BE49-F238E27FC236}">
                <a16:creationId xmlns:a16="http://schemas.microsoft.com/office/drawing/2014/main" id="{8733E78F-016D-53FD-FD90-5E262157388D}"/>
              </a:ext>
            </a:extLst>
          </p:cNvPr>
          <p:cNvSpPr>
            <a:spLocks noGrp="1"/>
          </p:cNvSpPr>
          <p:nvPr>
            <p:ph type="tbl" sz="quarter" idx="27"/>
          </p:nvPr>
        </p:nvSpPr>
        <p:spPr>
          <a:xfrm>
            <a:off x="13046196" y="13802678"/>
            <a:ext cx="5465642" cy="4852040"/>
          </a:xfrm>
          <a:prstGeom prst="rect">
            <a:avLst/>
          </a:prstGeom>
        </p:spPr>
        <p:txBody>
          <a:bodyPr/>
          <a:lstStyle>
            <a:lvl1pPr>
              <a:defRPr sz="2000"/>
            </a:lvl1pPr>
          </a:lstStyle>
          <a:p>
            <a:endParaRPr lang="en-US"/>
          </a:p>
        </p:txBody>
      </p:sp>
      <p:sp>
        <p:nvSpPr>
          <p:cNvPr id="79" name="Text Placeholder 39">
            <a:extLst>
              <a:ext uri="{FF2B5EF4-FFF2-40B4-BE49-F238E27FC236}">
                <a16:creationId xmlns:a16="http://schemas.microsoft.com/office/drawing/2014/main" id="{63B1BEC9-FDC8-A95D-EAEA-1C52DED3F7C9}"/>
              </a:ext>
            </a:extLst>
          </p:cNvPr>
          <p:cNvSpPr>
            <a:spLocks noGrp="1"/>
          </p:cNvSpPr>
          <p:nvPr>
            <p:ph type="body" sz="quarter" idx="42" hasCustomPrompt="1"/>
          </p:nvPr>
        </p:nvSpPr>
        <p:spPr>
          <a:xfrm>
            <a:off x="18883132" y="4601722"/>
            <a:ext cx="5403287" cy="503052"/>
          </a:xfrm>
          <a:prstGeom prst="rect">
            <a:avLst/>
          </a:prstGeom>
        </p:spPr>
        <p:txBody>
          <a:bodyPr/>
          <a:lstStyle>
            <a:lvl1pPr marL="0" indent="0">
              <a:buNone/>
              <a:defRPr sz="3000" b="1">
                <a:solidFill>
                  <a:schemeClr val="accent3"/>
                </a:solidFill>
              </a:defRPr>
            </a:lvl1pPr>
          </a:lstStyle>
          <a:p>
            <a:pPr lvl="0"/>
            <a:r>
              <a:rPr lang="en-US"/>
              <a:t>Conclusions Copy</a:t>
            </a:r>
          </a:p>
        </p:txBody>
      </p:sp>
      <p:cxnSp>
        <p:nvCxnSpPr>
          <p:cNvPr id="80" name="Straight Connector 79">
            <a:extLst>
              <a:ext uri="{FF2B5EF4-FFF2-40B4-BE49-F238E27FC236}">
                <a16:creationId xmlns:a16="http://schemas.microsoft.com/office/drawing/2014/main" id="{54F5BEB3-7F15-91B1-A88A-191812960ED4}"/>
              </a:ext>
            </a:extLst>
          </p:cNvPr>
          <p:cNvCxnSpPr>
            <a:cxnSpLocks/>
          </p:cNvCxnSpPr>
          <p:nvPr userDrawn="1"/>
        </p:nvCxnSpPr>
        <p:spPr>
          <a:xfrm>
            <a:off x="18889267" y="5340470"/>
            <a:ext cx="5397152"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84" name="Table Placeholder 59">
            <a:extLst>
              <a:ext uri="{FF2B5EF4-FFF2-40B4-BE49-F238E27FC236}">
                <a16:creationId xmlns:a16="http://schemas.microsoft.com/office/drawing/2014/main" id="{7073FDB8-A221-AE83-F15F-D976D607B080}"/>
              </a:ext>
            </a:extLst>
          </p:cNvPr>
          <p:cNvSpPr>
            <a:spLocks noGrp="1"/>
          </p:cNvSpPr>
          <p:nvPr>
            <p:ph type="tbl" sz="quarter" idx="44"/>
          </p:nvPr>
        </p:nvSpPr>
        <p:spPr>
          <a:xfrm>
            <a:off x="18900793" y="5643353"/>
            <a:ext cx="5406899" cy="4211994"/>
          </a:xfrm>
          <a:prstGeom prst="rect">
            <a:avLst/>
          </a:prstGeom>
        </p:spPr>
        <p:txBody>
          <a:bodyPr/>
          <a:lstStyle>
            <a:lvl1pPr>
              <a:defRPr sz="2000"/>
            </a:lvl1pPr>
          </a:lstStyle>
          <a:p>
            <a:endParaRPr lang="en-US"/>
          </a:p>
        </p:txBody>
      </p:sp>
      <p:sp>
        <p:nvSpPr>
          <p:cNvPr id="6" name="Text Placeholder 45">
            <a:extLst>
              <a:ext uri="{FF2B5EF4-FFF2-40B4-BE49-F238E27FC236}">
                <a16:creationId xmlns:a16="http://schemas.microsoft.com/office/drawing/2014/main" id="{B644CFCF-C897-8870-374A-76320CA4A168}"/>
              </a:ext>
            </a:extLst>
          </p:cNvPr>
          <p:cNvSpPr>
            <a:spLocks noGrp="1"/>
          </p:cNvSpPr>
          <p:nvPr>
            <p:ph type="body" sz="quarter" idx="51"/>
          </p:nvPr>
        </p:nvSpPr>
        <p:spPr>
          <a:xfrm>
            <a:off x="18907142" y="10333375"/>
            <a:ext cx="5400550" cy="8321341"/>
          </a:xfrm>
          <a:prstGeom prst="rect">
            <a:avLst/>
          </a:prstGeom>
        </p:spPr>
        <p:txBody>
          <a:bodyPr wrap="square">
            <a:noAutofit/>
          </a:bodyPr>
          <a:lstStyle>
            <a:lvl1pPr>
              <a:lnSpc>
                <a:spcPct val="110000"/>
              </a:lnSpc>
              <a:spcBef>
                <a:spcPts val="2400"/>
              </a:spcBef>
              <a:spcAft>
                <a:spcPts val="50"/>
              </a:spcAft>
              <a:defRPr sz="1800"/>
            </a:lvl1pPr>
            <a:lvl2pPr>
              <a:lnSpc>
                <a:spcPct val="110000"/>
              </a:lnSpc>
              <a:spcBef>
                <a:spcPts val="2400"/>
              </a:spcBef>
              <a:spcAft>
                <a:spcPts val="50"/>
              </a:spcAft>
              <a:defRPr sz="1600"/>
            </a:lvl2pPr>
            <a:lvl3pPr>
              <a:defRPr sz="2100"/>
            </a:lvl3pPr>
            <a:lvl4pPr>
              <a:defRPr sz="1900"/>
            </a:lvl4pPr>
            <a:lvl5pPr>
              <a:defRPr sz="1700"/>
            </a:lvl5pPr>
          </a:lstStyle>
          <a:p>
            <a:pPr lvl="0"/>
            <a:r>
              <a:rPr lang="en-US"/>
              <a:t>Click to edit Master text styles</a:t>
            </a:r>
          </a:p>
          <a:p>
            <a:pPr lvl="1"/>
            <a:r>
              <a:rPr lang="en-US"/>
              <a:t>Second level</a:t>
            </a:r>
          </a:p>
        </p:txBody>
      </p:sp>
      <p:sp>
        <p:nvSpPr>
          <p:cNvPr id="34" name="Rectangle 33">
            <a:extLst>
              <a:ext uri="{FF2B5EF4-FFF2-40B4-BE49-F238E27FC236}">
                <a16:creationId xmlns:a16="http://schemas.microsoft.com/office/drawing/2014/main" id="{18798E4D-1CCA-A412-821B-AE866B221572}"/>
              </a:ext>
            </a:extLst>
          </p:cNvPr>
          <p:cNvSpPr>
            <a:spLocks/>
          </p:cNvSpPr>
          <p:nvPr userDrawn="1"/>
        </p:nvSpPr>
        <p:spPr>
          <a:xfrm>
            <a:off x="24753156" y="0"/>
            <a:ext cx="6769000" cy="220254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a:p>
        </p:txBody>
      </p:sp>
      <p:sp>
        <p:nvSpPr>
          <p:cNvPr id="85" name="Text Placeholder 39">
            <a:extLst>
              <a:ext uri="{FF2B5EF4-FFF2-40B4-BE49-F238E27FC236}">
                <a16:creationId xmlns:a16="http://schemas.microsoft.com/office/drawing/2014/main" id="{77A69B63-1093-C077-BD26-3915977575CF}"/>
              </a:ext>
            </a:extLst>
          </p:cNvPr>
          <p:cNvSpPr>
            <a:spLocks noGrp="1"/>
          </p:cNvSpPr>
          <p:nvPr>
            <p:ph type="body" sz="quarter" idx="45" hasCustomPrompt="1"/>
          </p:nvPr>
        </p:nvSpPr>
        <p:spPr>
          <a:xfrm>
            <a:off x="25420864" y="1645083"/>
            <a:ext cx="5448579" cy="503052"/>
          </a:xfrm>
          <a:prstGeom prst="rect">
            <a:avLst/>
          </a:prstGeom>
        </p:spPr>
        <p:txBody>
          <a:bodyPr/>
          <a:lstStyle>
            <a:lvl1pPr marL="0" indent="0">
              <a:buNone/>
              <a:defRPr sz="3000" b="1">
                <a:solidFill>
                  <a:schemeClr val="accent2"/>
                </a:solidFill>
              </a:defRPr>
            </a:lvl1pPr>
          </a:lstStyle>
          <a:p>
            <a:pPr lvl="0"/>
            <a:r>
              <a:rPr lang="en-US"/>
              <a:t>References Copy</a:t>
            </a:r>
          </a:p>
        </p:txBody>
      </p:sp>
      <p:cxnSp>
        <p:nvCxnSpPr>
          <p:cNvPr id="86" name="Straight Connector 85">
            <a:extLst>
              <a:ext uri="{FF2B5EF4-FFF2-40B4-BE49-F238E27FC236}">
                <a16:creationId xmlns:a16="http://schemas.microsoft.com/office/drawing/2014/main" id="{45EEA45B-8DF0-2448-4205-C4847E19D84C}"/>
              </a:ext>
            </a:extLst>
          </p:cNvPr>
          <p:cNvCxnSpPr>
            <a:cxnSpLocks/>
          </p:cNvCxnSpPr>
          <p:nvPr userDrawn="1"/>
        </p:nvCxnSpPr>
        <p:spPr>
          <a:xfrm>
            <a:off x="25416405" y="2383831"/>
            <a:ext cx="545275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10" name="Text Placeholder 45">
            <a:extLst>
              <a:ext uri="{FF2B5EF4-FFF2-40B4-BE49-F238E27FC236}">
                <a16:creationId xmlns:a16="http://schemas.microsoft.com/office/drawing/2014/main" id="{32CD26CA-47F1-46DA-2F40-048A1D11DD9B}"/>
              </a:ext>
            </a:extLst>
          </p:cNvPr>
          <p:cNvSpPr>
            <a:spLocks noGrp="1"/>
          </p:cNvSpPr>
          <p:nvPr>
            <p:ph type="body" sz="quarter" idx="52"/>
          </p:nvPr>
        </p:nvSpPr>
        <p:spPr>
          <a:xfrm>
            <a:off x="25400607" y="2700112"/>
            <a:ext cx="5448579" cy="7906926"/>
          </a:xfrm>
          <a:prstGeom prst="rect">
            <a:avLst/>
          </a:prstGeom>
        </p:spPr>
        <p:txBody>
          <a:bodyPr wrap="square">
            <a:noAutofit/>
          </a:bodyPr>
          <a:lstStyle>
            <a:lvl1pPr>
              <a:lnSpc>
                <a:spcPct val="110000"/>
              </a:lnSpc>
              <a:spcBef>
                <a:spcPts val="2400"/>
              </a:spcBef>
              <a:spcAft>
                <a:spcPts val="50"/>
              </a:spcAft>
              <a:defRPr sz="1800">
                <a:solidFill>
                  <a:schemeClr val="bg1"/>
                </a:solidFill>
              </a:defRPr>
            </a:lvl1pPr>
            <a:lvl2pPr>
              <a:lnSpc>
                <a:spcPct val="110000"/>
              </a:lnSpc>
              <a:spcBef>
                <a:spcPts val="2400"/>
              </a:spcBef>
              <a:spcAft>
                <a:spcPts val="50"/>
              </a:spcAft>
              <a:defRPr sz="1600">
                <a:solidFill>
                  <a:schemeClr val="bg1"/>
                </a:solidFill>
              </a:defRPr>
            </a:lvl2pPr>
            <a:lvl3pPr>
              <a:defRPr sz="2100"/>
            </a:lvl3pPr>
            <a:lvl4pPr>
              <a:defRPr sz="1900"/>
            </a:lvl4pPr>
            <a:lvl5pPr>
              <a:defRPr sz="1700"/>
            </a:lvl5pPr>
          </a:lstStyle>
          <a:p>
            <a:pPr lvl="0"/>
            <a:r>
              <a:rPr lang="en-US"/>
              <a:t>Click to edit Master text styles</a:t>
            </a:r>
          </a:p>
          <a:p>
            <a:pPr lvl="1"/>
            <a:r>
              <a:rPr lang="en-US"/>
              <a:t>Second level</a:t>
            </a:r>
          </a:p>
        </p:txBody>
      </p:sp>
      <p:sp>
        <p:nvSpPr>
          <p:cNvPr id="91" name="Text Placeholder 39">
            <a:extLst>
              <a:ext uri="{FF2B5EF4-FFF2-40B4-BE49-F238E27FC236}">
                <a16:creationId xmlns:a16="http://schemas.microsoft.com/office/drawing/2014/main" id="{0D9154AD-6D0F-0B27-EABF-F3C37983E4AB}"/>
              </a:ext>
            </a:extLst>
          </p:cNvPr>
          <p:cNvSpPr>
            <a:spLocks noGrp="1"/>
          </p:cNvSpPr>
          <p:nvPr>
            <p:ph type="body" sz="quarter" idx="47" hasCustomPrompt="1"/>
          </p:nvPr>
        </p:nvSpPr>
        <p:spPr>
          <a:xfrm>
            <a:off x="25425323" y="11087037"/>
            <a:ext cx="5383723" cy="503052"/>
          </a:xfrm>
          <a:prstGeom prst="rect">
            <a:avLst/>
          </a:prstGeom>
        </p:spPr>
        <p:txBody>
          <a:bodyPr/>
          <a:lstStyle>
            <a:lvl1pPr marL="0" indent="0">
              <a:buNone/>
              <a:defRPr sz="3000" b="1">
                <a:solidFill>
                  <a:schemeClr val="accent2"/>
                </a:solidFill>
              </a:defRPr>
            </a:lvl1pPr>
          </a:lstStyle>
          <a:p>
            <a:pPr lvl="0"/>
            <a:r>
              <a:rPr lang="en-US"/>
              <a:t>The Investigators Copy</a:t>
            </a:r>
          </a:p>
        </p:txBody>
      </p:sp>
      <p:cxnSp>
        <p:nvCxnSpPr>
          <p:cNvPr id="92" name="Straight Connector 91">
            <a:extLst>
              <a:ext uri="{FF2B5EF4-FFF2-40B4-BE49-F238E27FC236}">
                <a16:creationId xmlns:a16="http://schemas.microsoft.com/office/drawing/2014/main" id="{1E129799-642D-A909-CE1D-480B95E56570}"/>
              </a:ext>
            </a:extLst>
          </p:cNvPr>
          <p:cNvCxnSpPr>
            <a:cxnSpLocks/>
          </p:cNvCxnSpPr>
          <p:nvPr userDrawn="1"/>
        </p:nvCxnSpPr>
        <p:spPr>
          <a:xfrm>
            <a:off x="25420864" y="11825785"/>
            <a:ext cx="5387852"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12" name="Text Placeholder 45">
            <a:extLst>
              <a:ext uri="{FF2B5EF4-FFF2-40B4-BE49-F238E27FC236}">
                <a16:creationId xmlns:a16="http://schemas.microsoft.com/office/drawing/2014/main" id="{24B447F1-B462-74AD-BACC-7EBC13872BB6}"/>
              </a:ext>
            </a:extLst>
          </p:cNvPr>
          <p:cNvSpPr>
            <a:spLocks noGrp="1"/>
          </p:cNvSpPr>
          <p:nvPr>
            <p:ph type="body" sz="quarter" idx="53"/>
          </p:nvPr>
        </p:nvSpPr>
        <p:spPr>
          <a:xfrm>
            <a:off x="25425323" y="12180235"/>
            <a:ext cx="5383723" cy="8113054"/>
          </a:xfrm>
          <a:prstGeom prst="rect">
            <a:avLst/>
          </a:prstGeom>
        </p:spPr>
        <p:txBody>
          <a:bodyPr wrap="square">
            <a:noAutofit/>
          </a:bodyPr>
          <a:lstStyle>
            <a:lvl1pPr>
              <a:lnSpc>
                <a:spcPct val="110000"/>
              </a:lnSpc>
              <a:spcBef>
                <a:spcPts val="2400"/>
              </a:spcBef>
              <a:spcAft>
                <a:spcPts val="50"/>
              </a:spcAft>
              <a:defRPr sz="1800">
                <a:solidFill>
                  <a:schemeClr val="bg1"/>
                </a:solidFill>
              </a:defRPr>
            </a:lvl1pPr>
            <a:lvl2pPr>
              <a:lnSpc>
                <a:spcPct val="110000"/>
              </a:lnSpc>
              <a:spcBef>
                <a:spcPts val="2400"/>
              </a:spcBef>
              <a:spcAft>
                <a:spcPts val="50"/>
              </a:spcAft>
              <a:defRPr sz="1600">
                <a:solidFill>
                  <a:schemeClr val="bg1"/>
                </a:solidFill>
              </a:defRPr>
            </a:lvl2pPr>
            <a:lvl3pPr>
              <a:defRPr sz="2100"/>
            </a:lvl3pPr>
            <a:lvl4pPr>
              <a:defRPr sz="1900"/>
            </a:lvl4pPr>
            <a:lvl5pPr>
              <a:defRPr sz="1700"/>
            </a:lvl5pPr>
          </a:lstStyle>
          <a:p>
            <a:pPr lvl="0"/>
            <a:r>
              <a:rPr lang="en-US"/>
              <a:t>Click to edit Master text styles</a:t>
            </a:r>
          </a:p>
          <a:p>
            <a:pPr lvl="1"/>
            <a:r>
              <a:rPr lang="en-US"/>
              <a:t>Second level</a:t>
            </a:r>
          </a:p>
        </p:txBody>
      </p:sp>
      <p:pic>
        <p:nvPicPr>
          <p:cNvPr id="8" name="Graphic 7" descr="Brighter World Logo">
            <a:extLst>
              <a:ext uri="{FF2B5EF4-FFF2-40B4-BE49-F238E27FC236}">
                <a16:creationId xmlns:a16="http://schemas.microsoft.com/office/drawing/2014/main" id="{A55D3FC1-5D3F-B823-4699-E25F2F406FE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420177" y="19484795"/>
            <a:ext cx="1588558" cy="1074255"/>
          </a:xfrm>
          <a:prstGeom prst="rect">
            <a:avLst/>
          </a:prstGeom>
        </p:spPr>
      </p:pic>
      <p:cxnSp>
        <p:nvCxnSpPr>
          <p:cNvPr id="11" name="Straight Connector 10">
            <a:extLst>
              <a:ext uri="{FF2B5EF4-FFF2-40B4-BE49-F238E27FC236}">
                <a16:creationId xmlns:a16="http://schemas.microsoft.com/office/drawing/2014/main" id="{87C0614B-CD94-1A1A-5D4E-B096052C40A1}"/>
              </a:ext>
            </a:extLst>
          </p:cNvPr>
          <p:cNvCxnSpPr>
            <a:cxnSpLocks/>
          </p:cNvCxnSpPr>
          <p:nvPr userDrawn="1"/>
        </p:nvCxnSpPr>
        <p:spPr>
          <a:xfrm>
            <a:off x="2618326" y="19201449"/>
            <a:ext cx="22517852"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15" name="Picture Placeholder 14">
            <a:extLst>
              <a:ext uri="{FF2B5EF4-FFF2-40B4-BE49-F238E27FC236}">
                <a16:creationId xmlns:a16="http://schemas.microsoft.com/office/drawing/2014/main" id="{D1A33A69-CFE8-0B65-FBFF-E624F2206E4D}"/>
              </a:ext>
            </a:extLst>
          </p:cNvPr>
          <p:cNvSpPr>
            <a:spLocks noGrp="1"/>
          </p:cNvSpPr>
          <p:nvPr>
            <p:ph type="pic" sz="quarter" idx="10"/>
          </p:nvPr>
        </p:nvSpPr>
        <p:spPr>
          <a:xfrm>
            <a:off x="3452288" y="19421734"/>
            <a:ext cx="943752" cy="949042"/>
          </a:xfrm>
          <a:prstGeom prst="rect">
            <a:avLst/>
          </a:prstGeom>
          <a:ln>
            <a:solidFill>
              <a:schemeClr val="accent3"/>
            </a:solidFill>
          </a:ln>
        </p:spPr>
        <p:txBody>
          <a:bodyPr wrap="none" lIns="0" tIns="0" rIns="0" bIns="0" anchor="ctr" anchorCtr="0"/>
          <a:lstStyle>
            <a:lvl1pPr marL="0" indent="0">
              <a:buNone/>
              <a:defRPr sz="2000"/>
            </a:lvl1pPr>
          </a:lstStyle>
          <a:p>
            <a:endParaRPr lang="en-US"/>
          </a:p>
        </p:txBody>
      </p:sp>
      <p:sp>
        <p:nvSpPr>
          <p:cNvPr id="17" name="Text Placeholder 16">
            <a:extLst>
              <a:ext uri="{FF2B5EF4-FFF2-40B4-BE49-F238E27FC236}">
                <a16:creationId xmlns:a16="http://schemas.microsoft.com/office/drawing/2014/main" id="{70C44EEC-F5FC-AF48-7232-599D680E967D}"/>
              </a:ext>
            </a:extLst>
          </p:cNvPr>
          <p:cNvSpPr>
            <a:spLocks noGrp="1"/>
          </p:cNvSpPr>
          <p:nvPr>
            <p:ph type="body" sz="quarter" idx="11" hasCustomPrompt="1"/>
          </p:nvPr>
        </p:nvSpPr>
        <p:spPr>
          <a:xfrm>
            <a:off x="4761175" y="19472442"/>
            <a:ext cx="6054051" cy="431716"/>
          </a:xfrm>
          <a:prstGeom prst="rect">
            <a:avLst/>
          </a:prstGeom>
        </p:spPr>
        <p:txBody>
          <a:bodyPr/>
          <a:lstStyle>
            <a:lvl1pPr marL="0" indent="0">
              <a:buNone/>
              <a:defRPr sz="2500" b="1"/>
            </a:lvl1pPr>
          </a:lstStyle>
          <a:p>
            <a:pPr lvl="0"/>
            <a:r>
              <a:rPr lang="en-US"/>
              <a:t>Dr. First Name, Last Name</a:t>
            </a:r>
          </a:p>
        </p:txBody>
      </p:sp>
      <p:sp>
        <p:nvSpPr>
          <p:cNvPr id="18" name="Text Placeholder 16">
            <a:extLst>
              <a:ext uri="{FF2B5EF4-FFF2-40B4-BE49-F238E27FC236}">
                <a16:creationId xmlns:a16="http://schemas.microsoft.com/office/drawing/2014/main" id="{598B09B6-ECA0-26B5-CB5C-C246E89917C2}"/>
              </a:ext>
            </a:extLst>
          </p:cNvPr>
          <p:cNvSpPr>
            <a:spLocks noGrp="1"/>
          </p:cNvSpPr>
          <p:nvPr>
            <p:ph type="body" sz="quarter" idx="12" hasCustomPrompt="1"/>
          </p:nvPr>
        </p:nvSpPr>
        <p:spPr>
          <a:xfrm>
            <a:off x="4761175" y="19978536"/>
            <a:ext cx="6054051" cy="320658"/>
          </a:xfrm>
          <a:prstGeom prst="rect">
            <a:avLst/>
          </a:prstGeom>
        </p:spPr>
        <p:txBody>
          <a:bodyPr/>
          <a:lstStyle>
            <a:lvl1pPr marL="0" indent="0">
              <a:buNone/>
              <a:defRPr sz="2000">
                <a:solidFill>
                  <a:schemeClr val="accent3"/>
                </a:solidFill>
              </a:defRPr>
            </a:lvl1pPr>
          </a:lstStyle>
          <a:p>
            <a:pPr lvl="0"/>
            <a:r>
              <a:rPr lang="en-US"/>
              <a:t>Credentials</a:t>
            </a:r>
          </a:p>
        </p:txBody>
      </p:sp>
      <p:sp>
        <p:nvSpPr>
          <p:cNvPr id="19" name="Text Placeholder 16">
            <a:extLst>
              <a:ext uri="{FF2B5EF4-FFF2-40B4-BE49-F238E27FC236}">
                <a16:creationId xmlns:a16="http://schemas.microsoft.com/office/drawing/2014/main" id="{0C2201F3-EF84-2939-91E2-6643814B3A33}"/>
              </a:ext>
            </a:extLst>
          </p:cNvPr>
          <p:cNvSpPr>
            <a:spLocks noGrp="1"/>
          </p:cNvSpPr>
          <p:nvPr>
            <p:ph type="body" sz="quarter" idx="13" hasCustomPrompt="1"/>
          </p:nvPr>
        </p:nvSpPr>
        <p:spPr>
          <a:xfrm>
            <a:off x="10943593" y="19599794"/>
            <a:ext cx="4676126" cy="304366"/>
          </a:xfrm>
          <a:prstGeom prst="rect">
            <a:avLst/>
          </a:prstGeom>
        </p:spPr>
        <p:txBody>
          <a:bodyPr/>
          <a:lstStyle>
            <a:lvl1pPr marL="0" indent="0">
              <a:buNone/>
              <a:defRPr sz="1500"/>
            </a:lvl1pPr>
          </a:lstStyle>
          <a:p>
            <a:pPr lvl="0"/>
            <a:r>
              <a:rPr lang="en-US"/>
              <a:t>McMaster University, Department</a:t>
            </a:r>
          </a:p>
        </p:txBody>
      </p:sp>
      <p:sp>
        <p:nvSpPr>
          <p:cNvPr id="20" name="Text Placeholder 16">
            <a:extLst>
              <a:ext uri="{FF2B5EF4-FFF2-40B4-BE49-F238E27FC236}">
                <a16:creationId xmlns:a16="http://schemas.microsoft.com/office/drawing/2014/main" id="{1FD88A10-2109-26FD-B946-C99DF2524619}"/>
              </a:ext>
            </a:extLst>
          </p:cNvPr>
          <p:cNvSpPr>
            <a:spLocks noGrp="1"/>
          </p:cNvSpPr>
          <p:nvPr>
            <p:ph type="body" sz="quarter" idx="14" hasCustomPrompt="1"/>
          </p:nvPr>
        </p:nvSpPr>
        <p:spPr>
          <a:xfrm>
            <a:off x="10943593" y="19978536"/>
            <a:ext cx="4676126" cy="304366"/>
          </a:xfrm>
          <a:prstGeom prst="rect">
            <a:avLst/>
          </a:prstGeom>
        </p:spPr>
        <p:txBody>
          <a:bodyPr/>
          <a:lstStyle>
            <a:lvl1pPr marL="0" indent="0">
              <a:buNone/>
              <a:defRPr sz="1500"/>
            </a:lvl1pPr>
          </a:lstStyle>
          <a:p>
            <a:pPr lvl="0"/>
            <a:r>
              <a:rPr lang="en-US"/>
              <a:t>Building Name, Room Number</a:t>
            </a:r>
          </a:p>
        </p:txBody>
      </p:sp>
      <p:sp>
        <p:nvSpPr>
          <p:cNvPr id="21" name="Text Placeholder 16">
            <a:extLst>
              <a:ext uri="{FF2B5EF4-FFF2-40B4-BE49-F238E27FC236}">
                <a16:creationId xmlns:a16="http://schemas.microsoft.com/office/drawing/2014/main" id="{97060223-A4A7-A5ED-B35C-A7682A3A52DE}"/>
              </a:ext>
            </a:extLst>
          </p:cNvPr>
          <p:cNvSpPr>
            <a:spLocks noGrp="1"/>
          </p:cNvSpPr>
          <p:nvPr>
            <p:ph type="body" sz="quarter" idx="15" hasCustomPrompt="1"/>
          </p:nvPr>
        </p:nvSpPr>
        <p:spPr>
          <a:xfrm>
            <a:off x="15761114" y="19599792"/>
            <a:ext cx="6054053" cy="304366"/>
          </a:xfrm>
          <a:prstGeom prst="rect">
            <a:avLst/>
          </a:prstGeom>
        </p:spPr>
        <p:txBody>
          <a:bodyPr/>
          <a:lstStyle>
            <a:lvl1pPr marL="0" indent="0">
              <a:buNone/>
              <a:defRPr sz="1500"/>
            </a:lvl1pPr>
          </a:lstStyle>
          <a:p>
            <a:pPr lvl="0"/>
            <a:r>
              <a:rPr lang="en-US"/>
              <a:t>Email</a:t>
            </a:r>
          </a:p>
        </p:txBody>
      </p:sp>
      <p:sp>
        <p:nvSpPr>
          <p:cNvPr id="22" name="Text Placeholder 16">
            <a:extLst>
              <a:ext uri="{FF2B5EF4-FFF2-40B4-BE49-F238E27FC236}">
                <a16:creationId xmlns:a16="http://schemas.microsoft.com/office/drawing/2014/main" id="{3FFC2662-E904-C705-181E-C9B45A550CE7}"/>
              </a:ext>
            </a:extLst>
          </p:cNvPr>
          <p:cNvSpPr>
            <a:spLocks noGrp="1"/>
          </p:cNvSpPr>
          <p:nvPr>
            <p:ph type="body" sz="quarter" idx="16" hasCustomPrompt="1"/>
          </p:nvPr>
        </p:nvSpPr>
        <p:spPr>
          <a:xfrm>
            <a:off x="15761114" y="19978536"/>
            <a:ext cx="6054053" cy="304366"/>
          </a:xfrm>
          <a:prstGeom prst="rect">
            <a:avLst/>
          </a:prstGeom>
        </p:spPr>
        <p:txBody>
          <a:bodyPr/>
          <a:lstStyle>
            <a:lvl1pPr marL="0" indent="0">
              <a:buNone/>
              <a:defRPr sz="1500"/>
            </a:lvl1pPr>
          </a:lstStyle>
          <a:p>
            <a:pPr lvl="0"/>
            <a:r>
              <a:rPr lang="en-US"/>
              <a:t>Phone</a:t>
            </a:r>
          </a:p>
        </p:txBody>
      </p:sp>
    </p:spTree>
    <p:extLst>
      <p:ext uri="{BB962C8B-B14F-4D97-AF65-F5344CB8AC3E}">
        <p14:creationId xmlns:p14="http://schemas.microsoft.com/office/powerpoint/2010/main" val="1428504401"/>
      </p:ext>
    </p:extLst>
  </p:cSld>
  <p:clrMapOvr>
    <a:masterClrMapping/>
  </p:clrMapOvr>
  <p:extLst>
    <p:ext uri="{DCECCB84-F9BA-43D5-87BE-67443E8EF086}">
      <p15:sldGuideLst xmlns:p15="http://schemas.microsoft.com/office/powerpoint/2012/main">
        <p15:guide id="1" orient="horz" pos="2489" userDrawn="1">
          <p15:clr>
            <a:srgbClr val="FBAE40"/>
          </p15:clr>
        </p15:guide>
        <p15:guide id="2" pos="4313" userDrawn="1">
          <p15:clr>
            <a:srgbClr val="FBAE40"/>
          </p15:clr>
        </p15:guide>
        <p15:guide id="3" pos="4562" userDrawn="1">
          <p15:clr>
            <a:srgbClr val="FBAE40"/>
          </p15:clr>
        </p15:guide>
        <p15:guide id="4" pos="7987" userDrawn="1">
          <p15:clr>
            <a:srgbClr val="FBAE40"/>
          </p15:clr>
        </p15:guide>
        <p15:guide id="5" pos="8213" userDrawn="1">
          <p15:clr>
            <a:srgbClr val="FBAE40"/>
          </p15:clr>
        </p15:guide>
        <p15:guide id="6" pos="11661" userDrawn="1">
          <p15:clr>
            <a:srgbClr val="FBAE40"/>
          </p15:clr>
        </p15:guide>
        <p15:guide id="7" pos="11899">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5271053"/>
      </p:ext>
    </p:extLst>
  </p:cSld>
  <p:clrMap bg1="lt1" tx1="dk1" bg2="lt2" tx2="dk2" accent1="accent1" accent2="accent2" accent3="accent3" accent4="accent4" accent5="accent5" accent6="accent6" hlink="hlink" folHlink="folHlink"/>
  <p:sldLayoutIdLst>
    <p:sldLayoutId id="2147483677" r:id="rId1"/>
  </p:sldLayoutIdLst>
  <p:txStyles>
    <p:titleStyle>
      <a:lvl1pPr algn="l" defTabSz="2926080" rtl="0" eaLnBrk="1" latinLnBrk="0" hangingPunct="1">
        <a:lnSpc>
          <a:spcPct val="90000"/>
        </a:lnSpc>
        <a:spcBef>
          <a:spcPct val="0"/>
        </a:spcBef>
        <a:buNone/>
        <a:defRPr sz="14080" kern="1200">
          <a:solidFill>
            <a:schemeClr val="tx1"/>
          </a:solidFill>
          <a:latin typeface="+mj-lt"/>
          <a:ea typeface="+mj-ea"/>
          <a:cs typeface="+mj-cs"/>
        </a:defRPr>
      </a:lvl1pPr>
    </p:titleStyle>
    <p:bodyStyle>
      <a:lvl1pPr marL="731520" indent="-731520" algn="l" defTabSz="2926080" rtl="0" eaLnBrk="1" latinLnBrk="0" hangingPunct="1">
        <a:lnSpc>
          <a:spcPct val="90000"/>
        </a:lnSpc>
        <a:spcBef>
          <a:spcPts val="3200"/>
        </a:spcBef>
        <a:buFont typeface="Arial" panose="020B0604020202020204" pitchFamily="34" charset="0"/>
        <a:buChar char="•"/>
        <a:defRPr sz="8960" kern="1200">
          <a:solidFill>
            <a:schemeClr val="tx1"/>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p:bodyStyle>
    <p:otherStyle>
      <a:defPPr>
        <a:defRPr lang="en-US"/>
      </a:defPPr>
      <a:lvl1pPr marL="0" algn="l" defTabSz="2926080" rtl="0" eaLnBrk="1" latinLnBrk="0" hangingPunct="1">
        <a:defRPr sz="5760" kern="1200">
          <a:solidFill>
            <a:schemeClr val="tx1"/>
          </a:solidFill>
          <a:latin typeface="+mn-lt"/>
          <a:ea typeface="+mn-ea"/>
          <a:cs typeface="+mn-cs"/>
        </a:defRPr>
      </a:lvl1pPr>
      <a:lvl2pPr marL="1463040" algn="l" defTabSz="2926080" rtl="0" eaLnBrk="1" latinLnBrk="0" hangingPunct="1">
        <a:defRPr sz="5760" kern="1200">
          <a:solidFill>
            <a:schemeClr val="tx1"/>
          </a:solidFill>
          <a:latin typeface="+mn-lt"/>
          <a:ea typeface="+mn-ea"/>
          <a:cs typeface="+mn-cs"/>
        </a:defRPr>
      </a:lvl2pPr>
      <a:lvl3pPr marL="2926080" algn="l" defTabSz="2926080" rtl="0" eaLnBrk="1" latinLnBrk="0" hangingPunct="1">
        <a:defRPr sz="5760" kern="1200">
          <a:solidFill>
            <a:schemeClr val="tx1"/>
          </a:solidFill>
          <a:latin typeface="+mn-lt"/>
          <a:ea typeface="+mn-ea"/>
          <a:cs typeface="+mn-cs"/>
        </a:defRPr>
      </a:lvl3pPr>
      <a:lvl4pPr marL="4389120" algn="l" defTabSz="2926080" rtl="0" eaLnBrk="1" latinLnBrk="0" hangingPunct="1">
        <a:defRPr sz="5760" kern="1200">
          <a:solidFill>
            <a:schemeClr val="tx1"/>
          </a:solidFill>
          <a:latin typeface="+mn-lt"/>
          <a:ea typeface="+mn-ea"/>
          <a:cs typeface="+mn-cs"/>
        </a:defRPr>
      </a:lvl4pPr>
      <a:lvl5pPr marL="5852160" algn="l" defTabSz="2926080" rtl="0" eaLnBrk="1" latinLnBrk="0" hangingPunct="1">
        <a:defRPr sz="5760" kern="1200">
          <a:solidFill>
            <a:schemeClr val="tx1"/>
          </a:solidFill>
          <a:latin typeface="+mn-lt"/>
          <a:ea typeface="+mn-ea"/>
          <a:cs typeface="+mn-cs"/>
        </a:defRPr>
      </a:lvl5pPr>
      <a:lvl6pPr marL="7315200" algn="l" defTabSz="2926080" rtl="0" eaLnBrk="1" latinLnBrk="0" hangingPunct="1">
        <a:defRPr sz="5760" kern="1200">
          <a:solidFill>
            <a:schemeClr val="tx1"/>
          </a:solidFill>
          <a:latin typeface="+mn-lt"/>
          <a:ea typeface="+mn-ea"/>
          <a:cs typeface="+mn-cs"/>
        </a:defRPr>
      </a:lvl6pPr>
      <a:lvl7pPr marL="8778240" algn="l" defTabSz="2926080" rtl="0" eaLnBrk="1" latinLnBrk="0" hangingPunct="1">
        <a:defRPr sz="5760" kern="1200">
          <a:solidFill>
            <a:schemeClr val="tx1"/>
          </a:solidFill>
          <a:latin typeface="+mn-lt"/>
          <a:ea typeface="+mn-ea"/>
          <a:cs typeface="+mn-cs"/>
        </a:defRPr>
      </a:lvl7pPr>
      <a:lvl8pPr marL="10241280" algn="l" defTabSz="2926080" rtl="0" eaLnBrk="1" latinLnBrk="0" hangingPunct="1">
        <a:defRPr sz="5760" kern="1200">
          <a:solidFill>
            <a:schemeClr val="tx1"/>
          </a:solidFill>
          <a:latin typeface="+mn-lt"/>
          <a:ea typeface="+mn-ea"/>
          <a:cs typeface="+mn-cs"/>
        </a:defRPr>
      </a:lvl8pPr>
      <a:lvl9pPr marL="11704320" algn="l" defTabSz="2926080" rtl="0" eaLnBrk="1" latinLnBrk="0" hangingPunct="1">
        <a:defRPr sz="576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888" userDrawn="1">
          <p15:clr>
            <a:srgbClr val="F26B43"/>
          </p15:clr>
        </p15:guide>
        <p15:guide id="2" orient="horz" pos="12945" userDrawn="1">
          <p15:clr>
            <a:srgbClr val="F26B43"/>
          </p15:clr>
        </p15:guide>
        <p15:guide id="3" pos="19848" userDrawn="1">
          <p15:clr>
            <a:srgbClr val="F26B43"/>
          </p15:clr>
        </p15:guide>
        <p15:guide id="4" orient="horz" pos="857"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jpeg"/><Relationship Id="rId13" Type="http://schemas.openxmlformats.org/officeDocument/2006/relationships/image" Target="../media/image12.png"/><Relationship Id="rId3" Type="http://schemas.microsoft.com/office/2018/10/relationships/comments" Target="../comments/modernComment_107_9AD519B.xml"/><Relationship Id="rId7" Type="http://schemas.openxmlformats.org/officeDocument/2006/relationships/image" Target="../media/image6.jpeg"/><Relationship Id="rId12"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jpeg"/><Relationship Id="rId11" Type="http://schemas.openxmlformats.org/officeDocument/2006/relationships/image" Target="../media/image10.jpeg"/><Relationship Id="rId5" Type="http://schemas.openxmlformats.org/officeDocument/2006/relationships/image" Target="../media/image4.jpe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2FEB7182-C137-6770-2EFB-AC39A416D31D}"/>
              </a:ext>
            </a:extLst>
          </p:cNvPr>
          <p:cNvSpPr/>
          <p:nvPr/>
        </p:nvSpPr>
        <p:spPr>
          <a:xfrm>
            <a:off x="0" y="181962"/>
            <a:ext cx="32918400" cy="2144402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t>To ensure reliable predictions, an input validation stage is incorporated into the system. Image quality is first assessed based on factors such as clarity and contrast, and a pre-filter model is used to verify the presence of teeth and the gumline. Only images that meet these criteria are passed to the main classification model, which helps reduce false predictions and improves overall system reliability.</a:t>
            </a:r>
          </a:p>
        </p:txBody>
      </p:sp>
      <p:sp>
        <p:nvSpPr>
          <p:cNvPr id="16" name="Rectangle 15">
            <a:extLst>
              <a:ext uri="{FF2B5EF4-FFF2-40B4-BE49-F238E27FC236}">
                <a16:creationId xmlns:a16="http://schemas.microsoft.com/office/drawing/2014/main" id="{6F77552E-E2AE-BEC3-1B3A-7F63200A3EDE}"/>
              </a:ext>
            </a:extLst>
          </p:cNvPr>
          <p:cNvSpPr/>
          <p:nvPr/>
        </p:nvSpPr>
        <p:spPr>
          <a:xfrm>
            <a:off x="18735347" y="3412902"/>
            <a:ext cx="13627981" cy="4579577"/>
          </a:xfrm>
          <a:prstGeom prst="rect">
            <a:avLst/>
          </a:prstGeom>
          <a:solidFill>
            <a:srgbClr val="D6EDD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Rectangle 13">
            <a:extLst>
              <a:ext uri="{FF2B5EF4-FFF2-40B4-BE49-F238E27FC236}">
                <a16:creationId xmlns:a16="http://schemas.microsoft.com/office/drawing/2014/main" id="{64E414CD-AE6C-24DA-BE2A-C499214D1673}"/>
              </a:ext>
            </a:extLst>
          </p:cNvPr>
          <p:cNvSpPr/>
          <p:nvPr/>
        </p:nvSpPr>
        <p:spPr>
          <a:xfrm>
            <a:off x="9403249" y="3412903"/>
            <a:ext cx="8724174" cy="7820006"/>
          </a:xfrm>
          <a:prstGeom prst="rect">
            <a:avLst/>
          </a:prstGeom>
          <a:solidFill>
            <a:srgbClr val="EFDDE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BC6F5908-B598-A296-663E-95F1D72434A1}"/>
              </a:ext>
            </a:extLst>
          </p:cNvPr>
          <p:cNvSpPr/>
          <p:nvPr/>
        </p:nvSpPr>
        <p:spPr>
          <a:xfrm>
            <a:off x="9463219" y="12039838"/>
            <a:ext cx="8664204" cy="3220188"/>
          </a:xfrm>
          <a:prstGeom prst="rect">
            <a:avLst/>
          </a:prstGeom>
          <a:solidFill>
            <a:srgbClr val="FBE1E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ext Placeholder 1">
            <a:extLst>
              <a:ext uri="{FF2B5EF4-FFF2-40B4-BE49-F238E27FC236}">
                <a16:creationId xmlns:a16="http://schemas.microsoft.com/office/drawing/2014/main" id="{533E9AA8-9CBB-AA52-5C89-DA531A137837}"/>
              </a:ext>
            </a:extLst>
          </p:cNvPr>
          <p:cNvSpPr>
            <a:spLocks noGrp="1"/>
          </p:cNvSpPr>
          <p:nvPr>
            <p:ph type="body" sz="quarter" idx="35"/>
          </p:nvPr>
        </p:nvSpPr>
        <p:spPr>
          <a:xfrm>
            <a:off x="8666773" y="1297863"/>
            <a:ext cx="19115104" cy="855356"/>
          </a:xfrm>
        </p:spPr>
        <p:txBody>
          <a:bodyPr lIns="91440" tIns="45720" rIns="91440" bIns="45720" anchor="t"/>
          <a:lstStyle/>
          <a:p>
            <a:r>
              <a:rPr lang="en-US" sz="4800"/>
              <a:t>SELFIE: Mobile AI Dental Assistant for Oral Condition Screening</a:t>
            </a:r>
          </a:p>
          <a:p>
            <a:endParaRPr lang="en-US" sz="4800">
              <a:cs typeface="Arial"/>
            </a:endParaRPr>
          </a:p>
        </p:txBody>
      </p:sp>
      <p:sp>
        <p:nvSpPr>
          <p:cNvPr id="4" name="Text Placeholder 3">
            <a:extLst>
              <a:ext uri="{FF2B5EF4-FFF2-40B4-BE49-F238E27FC236}">
                <a16:creationId xmlns:a16="http://schemas.microsoft.com/office/drawing/2014/main" id="{E12D04B0-1EAF-DC40-9DC2-4C4D6E367196}"/>
              </a:ext>
            </a:extLst>
          </p:cNvPr>
          <p:cNvSpPr>
            <a:spLocks noGrp="1"/>
          </p:cNvSpPr>
          <p:nvPr>
            <p:ph type="body" sz="quarter" idx="20"/>
          </p:nvPr>
        </p:nvSpPr>
        <p:spPr>
          <a:xfrm>
            <a:off x="1075358" y="3654026"/>
            <a:ext cx="5434243" cy="503052"/>
          </a:xfrm>
        </p:spPr>
        <p:txBody>
          <a:bodyPr/>
          <a:lstStyle/>
          <a:p>
            <a:r>
              <a:rPr lang="en-US"/>
              <a:t>Introduction</a:t>
            </a:r>
          </a:p>
        </p:txBody>
      </p:sp>
      <p:pic>
        <p:nvPicPr>
          <p:cNvPr id="13" name="Picture 12" descr="A black background with text and a logo&#10;&#10;AI-generated content may be incorrect.">
            <a:extLst>
              <a:ext uri="{FF2B5EF4-FFF2-40B4-BE49-F238E27FC236}">
                <a16:creationId xmlns:a16="http://schemas.microsoft.com/office/drawing/2014/main" id="{49CED12E-41DC-8B26-B549-3D3BB7C4F6BC}"/>
              </a:ext>
            </a:extLst>
          </p:cNvPr>
          <p:cNvPicPr>
            <a:picLocks noChangeAspect="1"/>
          </p:cNvPicPr>
          <p:nvPr/>
        </p:nvPicPr>
        <p:blipFill>
          <a:blip r:embed="rId4"/>
          <a:stretch>
            <a:fillRect/>
          </a:stretch>
        </p:blipFill>
        <p:spPr>
          <a:xfrm>
            <a:off x="1048444" y="1157445"/>
            <a:ext cx="6203697" cy="1540849"/>
          </a:xfrm>
          <a:prstGeom prst="rect">
            <a:avLst/>
          </a:prstGeom>
        </p:spPr>
      </p:pic>
      <p:sp>
        <p:nvSpPr>
          <p:cNvPr id="68" name="Text Placeholder 1">
            <a:extLst>
              <a:ext uri="{FF2B5EF4-FFF2-40B4-BE49-F238E27FC236}">
                <a16:creationId xmlns:a16="http://schemas.microsoft.com/office/drawing/2014/main" id="{5F7FB116-5242-DD37-49EE-BE30E89E2FD5}"/>
              </a:ext>
            </a:extLst>
          </p:cNvPr>
          <p:cNvSpPr txBox="1">
            <a:spLocks/>
          </p:cNvSpPr>
          <p:nvPr/>
        </p:nvSpPr>
        <p:spPr>
          <a:xfrm>
            <a:off x="8705139" y="2101176"/>
            <a:ext cx="16501821" cy="803313"/>
          </a:xfrm>
          <a:prstGeom prst="rect">
            <a:avLst/>
          </a:prstGeom>
        </p:spPr>
        <p:txBody>
          <a:bodyPr lIns="91440" tIns="45720" rIns="91440" bIns="45720" anchor="t"/>
          <a:lstStyle>
            <a:lvl1pPr marL="0" indent="0" algn="l" defTabSz="2926080" rtl="0" eaLnBrk="1" latinLnBrk="0" hangingPunct="1">
              <a:lnSpc>
                <a:spcPct val="90000"/>
              </a:lnSpc>
              <a:spcBef>
                <a:spcPts val="3200"/>
              </a:spcBef>
              <a:buFont typeface="Arial" panose="020B0604020202020204" pitchFamily="34" charset="0"/>
              <a:buNone/>
              <a:defRPr sz="3500" b="1" kern="1200">
                <a:solidFill>
                  <a:schemeClr val="accent1"/>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cs typeface="Arial"/>
              </a:rPr>
              <a:t>Combining Deep Learning and Questionnaire-Based Risk Assessment</a:t>
            </a:r>
          </a:p>
        </p:txBody>
      </p:sp>
      <p:cxnSp>
        <p:nvCxnSpPr>
          <p:cNvPr id="70" name="Straight Connector 69">
            <a:extLst>
              <a:ext uri="{FF2B5EF4-FFF2-40B4-BE49-F238E27FC236}">
                <a16:creationId xmlns:a16="http://schemas.microsoft.com/office/drawing/2014/main" id="{1137E1A1-71C9-36DE-896A-CABC79091A65}"/>
              </a:ext>
            </a:extLst>
          </p:cNvPr>
          <p:cNvCxnSpPr>
            <a:cxnSpLocks/>
          </p:cNvCxnSpPr>
          <p:nvPr/>
        </p:nvCxnSpPr>
        <p:spPr>
          <a:xfrm>
            <a:off x="0" y="2990663"/>
            <a:ext cx="32918400"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72" name="Text Placeholder 3">
            <a:extLst>
              <a:ext uri="{FF2B5EF4-FFF2-40B4-BE49-F238E27FC236}">
                <a16:creationId xmlns:a16="http://schemas.microsoft.com/office/drawing/2014/main" id="{F88C4FDA-E5BC-09A5-55F9-345EB9BE6C5A}"/>
              </a:ext>
            </a:extLst>
          </p:cNvPr>
          <p:cNvSpPr txBox="1">
            <a:spLocks/>
          </p:cNvSpPr>
          <p:nvPr/>
        </p:nvSpPr>
        <p:spPr>
          <a:xfrm>
            <a:off x="1036439" y="9184289"/>
            <a:ext cx="5434243" cy="503052"/>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Objective</a:t>
            </a:r>
          </a:p>
        </p:txBody>
      </p:sp>
      <p:sp>
        <p:nvSpPr>
          <p:cNvPr id="74" name="Text Placeholder 3">
            <a:extLst>
              <a:ext uri="{FF2B5EF4-FFF2-40B4-BE49-F238E27FC236}">
                <a16:creationId xmlns:a16="http://schemas.microsoft.com/office/drawing/2014/main" id="{E1A12144-79E3-2740-EE85-4FA58BE5A05F}"/>
              </a:ext>
            </a:extLst>
          </p:cNvPr>
          <p:cNvSpPr txBox="1">
            <a:spLocks/>
          </p:cNvSpPr>
          <p:nvPr/>
        </p:nvSpPr>
        <p:spPr>
          <a:xfrm>
            <a:off x="955824" y="12749711"/>
            <a:ext cx="5434243" cy="503052"/>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System Design</a:t>
            </a:r>
          </a:p>
        </p:txBody>
      </p:sp>
      <p:pic>
        <p:nvPicPr>
          <p:cNvPr id="1032" name="Picture 8" descr="A graph with blue and orange lines&#10;&#10;AI-generated content may be incorrect.">
            <a:extLst>
              <a:ext uri="{FF2B5EF4-FFF2-40B4-BE49-F238E27FC236}">
                <a16:creationId xmlns:a16="http://schemas.microsoft.com/office/drawing/2014/main" id="{6B93E798-D20A-16F9-784E-AF86AD5C3F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2075" t="831" r="-574" b="-2179"/>
          <a:stretch>
            <a:fillRect/>
          </a:stretch>
        </p:blipFill>
        <p:spPr bwMode="auto">
          <a:xfrm>
            <a:off x="9356810" y="16399506"/>
            <a:ext cx="4613072" cy="3415917"/>
          </a:xfrm>
          <a:prstGeom prst="rect">
            <a:avLst/>
          </a:prstGeom>
          <a:noFill/>
          <a:ln>
            <a:noFill/>
          </a:ln>
          <a:extLst>
            <a:ext uri="{909E8E84-426E-40DD-AFC4-6F175D3DCCD1}">
              <a14:hiddenFill xmlns:a14="http://schemas.microsoft.com/office/drawing/2010/main">
                <a:solidFill>
                  <a:srgbClr val="FFFFFF"/>
                </a:solidFill>
              </a14:hiddenFill>
            </a:ext>
          </a:extLst>
        </p:spPr>
      </p:pic>
      <p:pic>
        <p:nvPicPr>
          <p:cNvPr id="1034" name="Picture 10" descr="A graph of a graph with blue and orange lines&#10;&#10;AI-generated content may be incorrect.">
            <a:extLst>
              <a:ext uri="{FF2B5EF4-FFF2-40B4-BE49-F238E27FC236}">
                <a16:creationId xmlns:a16="http://schemas.microsoft.com/office/drawing/2014/main" id="{B23A8D75-65D3-5FD7-4E2D-602968E801B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t="114" r="1566" b="-2402"/>
          <a:stretch>
            <a:fillRect/>
          </a:stretch>
        </p:blipFill>
        <p:spPr bwMode="auto">
          <a:xfrm>
            <a:off x="13453362" y="16368305"/>
            <a:ext cx="4423605" cy="3447599"/>
          </a:xfrm>
          <a:prstGeom prst="rect">
            <a:avLst/>
          </a:prstGeom>
          <a:noFill/>
          <a:ln>
            <a:noFill/>
          </a:ln>
          <a:extLst>
            <a:ext uri="{909E8E84-426E-40DD-AFC4-6F175D3DCCD1}">
              <a14:hiddenFill xmlns:a14="http://schemas.microsoft.com/office/drawing/2010/main">
                <a:solidFill>
                  <a:srgbClr val="FFFFFF"/>
                </a:solidFill>
              </a14:hiddenFill>
            </a:ext>
          </a:extLst>
        </p:spPr>
      </p:pic>
      <p:pic>
        <p:nvPicPr>
          <p:cNvPr id="1036" name="Picture 12" descr="A graph of multi-label roc curves&#10;&#10;AI-generated content may be incorrect.">
            <a:extLst>
              <a:ext uri="{FF2B5EF4-FFF2-40B4-BE49-F238E27FC236}">
                <a16:creationId xmlns:a16="http://schemas.microsoft.com/office/drawing/2014/main" id="{519433C1-0229-2A10-DF6D-900212FBEBD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t="1071" r="5066" b="2267"/>
          <a:stretch>
            <a:fillRect/>
          </a:stretch>
        </p:blipFill>
        <p:spPr bwMode="auto">
          <a:xfrm>
            <a:off x="17549102" y="16320899"/>
            <a:ext cx="4457029" cy="3403620"/>
          </a:xfrm>
          <a:prstGeom prst="rect">
            <a:avLst/>
          </a:prstGeom>
          <a:noFill/>
          <a:ln>
            <a:noFill/>
          </a:ln>
          <a:extLst>
            <a:ext uri="{909E8E84-426E-40DD-AFC4-6F175D3DCCD1}">
              <a14:hiddenFill xmlns:a14="http://schemas.microsoft.com/office/drawing/2010/main">
                <a:solidFill>
                  <a:srgbClr val="FFFFFF"/>
                </a:solidFill>
              </a14:hiddenFill>
            </a:ext>
          </a:extLst>
        </p:spPr>
      </p:pic>
      <p:cxnSp>
        <p:nvCxnSpPr>
          <p:cNvPr id="82" name="Straight Connector 81">
            <a:extLst>
              <a:ext uri="{FF2B5EF4-FFF2-40B4-BE49-F238E27FC236}">
                <a16:creationId xmlns:a16="http://schemas.microsoft.com/office/drawing/2014/main" id="{C0EF0AAC-F3CB-5808-4C59-64C756C5267D}"/>
              </a:ext>
            </a:extLst>
          </p:cNvPr>
          <p:cNvCxnSpPr>
            <a:cxnSpLocks/>
          </p:cNvCxnSpPr>
          <p:nvPr/>
        </p:nvCxnSpPr>
        <p:spPr>
          <a:xfrm>
            <a:off x="1184215" y="4271232"/>
            <a:ext cx="2782403"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B161862F-90E2-E09F-BBA0-BDB4E4567517}"/>
              </a:ext>
            </a:extLst>
          </p:cNvPr>
          <p:cNvCxnSpPr>
            <a:cxnSpLocks/>
          </p:cNvCxnSpPr>
          <p:nvPr/>
        </p:nvCxnSpPr>
        <p:spPr>
          <a:xfrm>
            <a:off x="1172212" y="9752333"/>
            <a:ext cx="1697881"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C610EF62-FB4D-BD23-C2ED-6C3967374D2F}"/>
              </a:ext>
            </a:extLst>
          </p:cNvPr>
          <p:cNvCxnSpPr>
            <a:cxnSpLocks/>
          </p:cNvCxnSpPr>
          <p:nvPr/>
        </p:nvCxnSpPr>
        <p:spPr>
          <a:xfrm>
            <a:off x="1117358" y="13399228"/>
            <a:ext cx="2833710"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76" name="Text Placeholder 3">
            <a:extLst>
              <a:ext uri="{FF2B5EF4-FFF2-40B4-BE49-F238E27FC236}">
                <a16:creationId xmlns:a16="http://schemas.microsoft.com/office/drawing/2014/main" id="{F5CAD19E-01CE-45FE-EDB8-5B410145E160}"/>
              </a:ext>
            </a:extLst>
          </p:cNvPr>
          <p:cNvSpPr txBox="1">
            <a:spLocks/>
          </p:cNvSpPr>
          <p:nvPr/>
        </p:nvSpPr>
        <p:spPr>
          <a:xfrm>
            <a:off x="9640441" y="6564195"/>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Visual Model (Deep Learning)</a:t>
            </a:r>
          </a:p>
        </p:txBody>
      </p:sp>
      <p:cxnSp>
        <p:nvCxnSpPr>
          <p:cNvPr id="89" name="Straight Connector 88">
            <a:extLst>
              <a:ext uri="{FF2B5EF4-FFF2-40B4-BE49-F238E27FC236}">
                <a16:creationId xmlns:a16="http://schemas.microsoft.com/office/drawing/2014/main" id="{FB421773-345E-B2E0-7D65-994DA662456C}"/>
              </a:ext>
            </a:extLst>
          </p:cNvPr>
          <p:cNvCxnSpPr>
            <a:cxnSpLocks/>
          </p:cNvCxnSpPr>
          <p:nvPr/>
        </p:nvCxnSpPr>
        <p:spPr>
          <a:xfrm>
            <a:off x="9768285" y="7207210"/>
            <a:ext cx="5758997"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80" name="Text Placeholder 3">
            <a:extLst>
              <a:ext uri="{FF2B5EF4-FFF2-40B4-BE49-F238E27FC236}">
                <a16:creationId xmlns:a16="http://schemas.microsoft.com/office/drawing/2014/main" id="{1D3176EF-456E-B0AA-89A7-21ABAB256244}"/>
              </a:ext>
            </a:extLst>
          </p:cNvPr>
          <p:cNvSpPr txBox="1">
            <a:spLocks/>
          </p:cNvSpPr>
          <p:nvPr/>
        </p:nvSpPr>
        <p:spPr>
          <a:xfrm>
            <a:off x="9732527" y="12256885"/>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Questionnaire</a:t>
            </a:r>
          </a:p>
        </p:txBody>
      </p:sp>
      <p:cxnSp>
        <p:nvCxnSpPr>
          <p:cNvPr id="91" name="Straight Connector 90">
            <a:extLst>
              <a:ext uri="{FF2B5EF4-FFF2-40B4-BE49-F238E27FC236}">
                <a16:creationId xmlns:a16="http://schemas.microsoft.com/office/drawing/2014/main" id="{959B4621-778A-042F-A82C-76928DB4B3E7}"/>
              </a:ext>
            </a:extLst>
          </p:cNvPr>
          <p:cNvCxnSpPr>
            <a:cxnSpLocks/>
          </p:cNvCxnSpPr>
          <p:nvPr/>
        </p:nvCxnSpPr>
        <p:spPr>
          <a:xfrm>
            <a:off x="9824241" y="12830583"/>
            <a:ext cx="2719203"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95" name="Text Placeholder 4">
            <a:extLst>
              <a:ext uri="{FF2B5EF4-FFF2-40B4-BE49-F238E27FC236}">
                <a16:creationId xmlns:a16="http://schemas.microsoft.com/office/drawing/2014/main" id="{BADA39A8-7317-EE97-6583-E355011E2110}"/>
              </a:ext>
            </a:extLst>
          </p:cNvPr>
          <p:cNvSpPr txBox="1">
            <a:spLocks/>
          </p:cNvSpPr>
          <p:nvPr/>
        </p:nvSpPr>
        <p:spPr>
          <a:xfrm>
            <a:off x="1188660" y="19927015"/>
            <a:ext cx="8219342" cy="538430"/>
          </a:xfrm>
          <a:prstGeom prst="rect">
            <a:avLst/>
          </a:prstGeom>
        </p:spPr>
        <p:txBody>
          <a:bodyPr wrap="square" lIns="91440" tIns="45720" rIns="91440" bIns="45720" anchor="t">
            <a:noAutofit/>
          </a:bodyPr>
          <a:lstStyle>
            <a:lvl1pPr marL="731520" indent="-731520" algn="l" defTabSz="2926080" rtl="0" eaLnBrk="1" latinLnBrk="0" hangingPunct="1">
              <a:lnSpc>
                <a:spcPct val="110000"/>
              </a:lnSpc>
              <a:spcBef>
                <a:spcPts val="2400"/>
              </a:spcBef>
              <a:spcAft>
                <a:spcPts val="50"/>
              </a:spcAft>
              <a:buFont typeface="Arial" panose="020B0604020202020204" pitchFamily="34" charset="0"/>
              <a:buChar char="•"/>
              <a:defRPr sz="1800" kern="1200">
                <a:solidFill>
                  <a:schemeClr val="tx1"/>
                </a:solidFill>
                <a:latin typeface="+mn-lt"/>
                <a:ea typeface="+mn-ea"/>
                <a:cs typeface="+mn-cs"/>
              </a:defRPr>
            </a:lvl1pPr>
            <a:lvl2pPr marL="2194560" indent="-731520" algn="l" defTabSz="2926080" rtl="0" eaLnBrk="1" latinLnBrk="0" hangingPunct="1">
              <a:lnSpc>
                <a:spcPct val="110000"/>
              </a:lnSpc>
              <a:spcBef>
                <a:spcPts val="2400"/>
              </a:spcBef>
              <a:spcAft>
                <a:spcPts val="50"/>
              </a:spcAft>
              <a:buFont typeface="Arial" panose="020B0604020202020204" pitchFamily="34" charset="0"/>
              <a:buChar char="•"/>
              <a:defRPr sz="160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21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190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170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pPr marL="0" indent="0">
              <a:buNone/>
            </a:pPr>
            <a:r>
              <a:rPr lang="en-US" sz="1600" b="1">
                <a:cs typeface="Arial"/>
              </a:rPr>
              <a:t>Figure 1. </a:t>
            </a:r>
            <a:r>
              <a:rPr lang="en-US" sz="1600">
                <a:cs typeface="Arial"/>
              </a:rPr>
              <a:t>System Architecture highlighting components and workflow </a:t>
            </a:r>
          </a:p>
        </p:txBody>
      </p:sp>
      <p:sp>
        <p:nvSpPr>
          <p:cNvPr id="96" name="Text Placeholder 3">
            <a:extLst>
              <a:ext uri="{FF2B5EF4-FFF2-40B4-BE49-F238E27FC236}">
                <a16:creationId xmlns:a16="http://schemas.microsoft.com/office/drawing/2014/main" id="{0931D348-94D3-5671-0257-F64933B98B6C}"/>
              </a:ext>
            </a:extLst>
          </p:cNvPr>
          <p:cNvSpPr txBox="1">
            <a:spLocks/>
          </p:cNvSpPr>
          <p:nvPr/>
        </p:nvSpPr>
        <p:spPr>
          <a:xfrm>
            <a:off x="9690409" y="3649422"/>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Preprocessing</a:t>
            </a:r>
          </a:p>
        </p:txBody>
      </p:sp>
      <p:cxnSp>
        <p:nvCxnSpPr>
          <p:cNvPr id="97" name="Straight Connector 96">
            <a:extLst>
              <a:ext uri="{FF2B5EF4-FFF2-40B4-BE49-F238E27FC236}">
                <a16:creationId xmlns:a16="http://schemas.microsoft.com/office/drawing/2014/main" id="{14D08BE7-61D6-1B2B-5AC1-D5A3D0067B71}"/>
              </a:ext>
            </a:extLst>
          </p:cNvPr>
          <p:cNvCxnSpPr>
            <a:cxnSpLocks/>
          </p:cNvCxnSpPr>
          <p:nvPr/>
        </p:nvCxnSpPr>
        <p:spPr>
          <a:xfrm>
            <a:off x="9782123" y="4264718"/>
            <a:ext cx="2719203"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99" name="Text Placeholder 3">
            <a:extLst>
              <a:ext uri="{FF2B5EF4-FFF2-40B4-BE49-F238E27FC236}">
                <a16:creationId xmlns:a16="http://schemas.microsoft.com/office/drawing/2014/main" id="{FE5B1B99-1833-0178-40B8-D10B7EC7B860}"/>
              </a:ext>
            </a:extLst>
          </p:cNvPr>
          <p:cNvSpPr txBox="1">
            <a:spLocks/>
          </p:cNvSpPr>
          <p:nvPr/>
        </p:nvSpPr>
        <p:spPr>
          <a:xfrm>
            <a:off x="9892757" y="15747760"/>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Results</a:t>
            </a:r>
          </a:p>
        </p:txBody>
      </p:sp>
      <p:cxnSp>
        <p:nvCxnSpPr>
          <p:cNvPr id="100" name="Straight Connector 99">
            <a:extLst>
              <a:ext uri="{FF2B5EF4-FFF2-40B4-BE49-F238E27FC236}">
                <a16:creationId xmlns:a16="http://schemas.microsoft.com/office/drawing/2014/main" id="{5A37541B-F475-2FA8-625B-FC48E3EBF010}"/>
              </a:ext>
            </a:extLst>
          </p:cNvPr>
          <p:cNvCxnSpPr>
            <a:cxnSpLocks/>
          </p:cNvCxnSpPr>
          <p:nvPr/>
        </p:nvCxnSpPr>
        <p:spPr>
          <a:xfrm flipV="1">
            <a:off x="9961338" y="16360114"/>
            <a:ext cx="1737088" cy="15755"/>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02" name="Text Placeholder 4">
            <a:extLst>
              <a:ext uri="{FF2B5EF4-FFF2-40B4-BE49-F238E27FC236}">
                <a16:creationId xmlns:a16="http://schemas.microsoft.com/office/drawing/2014/main" id="{572B49E5-1187-7E8B-BB85-0CA92893B5EA}"/>
              </a:ext>
            </a:extLst>
          </p:cNvPr>
          <p:cNvSpPr txBox="1">
            <a:spLocks/>
          </p:cNvSpPr>
          <p:nvPr/>
        </p:nvSpPr>
        <p:spPr>
          <a:xfrm>
            <a:off x="9732527" y="19905865"/>
            <a:ext cx="11898350" cy="752201"/>
          </a:xfrm>
          <a:prstGeom prst="rect">
            <a:avLst/>
          </a:prstGeom>
        </p:spPr>
        <p:txBody>
          <a:bodyPr wrap="square" lIns="91440" tIns="45720" rIns="91440" bIns="45720" anchor="t">
            <a:noAutofit/>
          </a:bodyPr>
          <a:lstStyle>
            <a:lvl1pPr marL="731520" indent="-731520" algn="l" defTabSz="2926080" rtl="0" eaLnBrk="1" latinLnBrk="0" hangingPunct="1">
              <a:lnSpc>
                <a:spcPct val="110000"/>
              </a:lnSpc>
              <a:spcBef>
                <a:spcPts val="2400"/>
              </a:spcBef>
              <a:spcAft>
                <a:spcPts val="50"/>
              </a:spcAft>
              <a:buFont typeface="Arial" panose="020B0604020202020204" pitchFamily="34" charset="0"/>
              <a:buChar char="•"/>
              <a:defRPr sz="1800" kern="1200">
                <a:solidFill>
                  <a:schemeClr val="tx1"/>
                </a:solidFill>
                <a:latin typeface="+mn-lt"/>
                <a:ea typeface="+mn-ea"/>
                <a:cs typeface="+mn-cs"/>
              </a:defRPr>
            </a:lvl1pPr>
            <a:lvl2pPr marL="2194560" indent="-731520" algn="l" defTabSz="2926080" rtl="0" eaLnBrk="1" latinLnBrk="0" hangingPunct="1">
              <a:lnSpc>
                <a:spcPct val="110000"/>
              </a:lnSpc>
              <a:spcBef>
                <a:spcPts val="2400"/>
              </a:spcBef>
              <a:spcAft>
                <a:spcPts val="50"/>
              </a:spcAft>
              <a:buFont typeface="Arial" panose="020B0604020202020204" pitchFamily="34" charset="0"/>
              <a:buChar char="•"/>
              <a:defRPr sz="160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21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190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170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pPr marL="0" indent="0">
              <a:buNone/>
            </a:pPr>
            <a:r>
              <a:rPr lang="en-US" sz="1600" b="1">
                <a:cs typeface="Arial"/>
              </a:rPr>
              <a:t>Figure 2. Evaluation Metrics for Visual Model. </a:t>
            </a:r>
            <a:r>
              <a:rPr lang="en-US" sz="1600">
                <a:cs typeface="Arial"/>
              </a:rPr>
              <a:t>(a) Training and Test Loss, (b) Training and Test Accuracy, (c) Multi-label ROC Curves. Average 92% Model Accuracy and 0.97 Average AUC across the four conditions.</a:t>
            </a:r>
            <a:endParaRPr lang="en-US" sz="1600" b="1">
              <a:cs typeface="Arial"/>
            </a:endParaRPr>
          </a:p>
        </p:txBody>
      </p:sp>
      <p:sp>
        <p:nvSpPr>
          <p:cNvPr id="103" name="Text Placeholder 3">
            <a:extLst>
              <a:ext uri="{FF2B5EF4-FFF2-40B4-BE49-F238E27FC236}">
                <a16:creationId xmlns:a16="http://schemas.microsoft.com/office/drawing/2014/main" id="{79B5C4C7-9FDE-2446-6779-0702B5C89853}"/>
              </a:ext>
            </a:extLst>
          </p:cNvPr>
          <p:cNvSpPr txBox="1">
            <a:spLocks/>
          </p:cNvSpPr>
          <p:nvPr/>
        </p:nvSpPr>
        <p:spPr>
          <a:xfrm>
            <a:off x="18785737" y="16807339"/>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endParaRPr lang="en-US"/>
          </a:p>
        </p:txBody>
      </p:sp>
      <p:sp>
        <p:nvSpPr>
          <p:cNvPr id="104" name="Text Placeholder 3">
            <a:extLst>
              <a:ext uri="{FF2B5EF4-FFF2-40B4-BE49-F238E27FC236}">
                <a16:creationId xmlns:a16="http://schemas.microsoft.com/office/drawing/2014/main" id="{9AEBDEF4-7EC9-A79E-78A0-E9D58E8783BE}"/>
              </a:ext>
            </a:extLst>
          </p:cNvPr>
          <p:cNvSpPr txBox="1">
            <a:spLocks/>
          </p:cNvSpPr>
          <p:nvPr/>
        </p:nvSpPr>
        <p:spPr>
          <a:xfrm>
            <a:off x="19033879" y="3622853"/>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Frontend Integration</a:t>
            </a:r>
          </a:p>
        </p:txBody>
      </p:sp>
      <p:cxnSp>
        <p:nvCxnSpPr>
          <p:cNvPr id="105" name="Straight Connector 104">
            <a:extLst>
              <a:ext uri="{FF2B5EF4-FFF2-40B4-BE49-F238E27FC236}">
                <a16:creationId xmlns:a16="http://schemas.microsoft.com/office/drawing/2014/main" id="{511BD696-4F9F-440E-5FB6-EB9E245010CA}"/>
              </a:ext>
            </a:extLst>
          </p:cNvPr>
          <p:cNvCxnSpPr>
            <a:cxnSpLocks/>
          </p:cNvCxnSpPr>
          <p:nvPr/>
        </p:nvCxnSpPr>
        <p:spPr>
          <a:xfrm flipV="1">
            <a:off x="19143031" y="4177449"/>
            <a:ext cx="3831830" cy="2681"/>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07" name="Text Placeholder 3">
            <a:extLst>
              <a:ext uri="{FF2B5EF4-FFF2-40B4-BE49-F238E27FC236}">
                <a16:creationId xmlns:a16="http://schemas.microsoft.com/office/drawing/2014/main" id="{89DA193E-5D7C-9A10-55DE-034DE2734D97}"/>
              </a:ext>
            </a:extLst>
          </p:cNvPr>
          <p:cNvSpPr txBox="1">
            <a:spLocks/>
          </p:cNvSpPr>
          <p:nvPr/>
        </p:nvSpPr>
        <p:spPr>
          <a:xfrm>
            <a:off x="19056725" y="8440227"/>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UI / UX</a:t>
            </a:r>
          </a:p>
        </p:txBody>
      </p:sp>
      <p:cxnSp>
        <p:nvCxnSpPr>
          <p:cNvPr id="108" name="Straight Connector 107">
            <a:extLst>
              <a:ext uri="{FF2B5EF4-FFF2-40B4-BE49-F238E27FC236}">
                <a16:creationId xmlns:a16="http://schemas.microsoft.com/office/drawing/2014/main" id="{EC293052-B47D-C34F-B108-04F13033998B}"/>
              </a:ext>
            </a:extLst>
          </p:cNvPr>
          <p:cNvCxnSpPr>
            <a:cxnSpLocks/>
          </p:cNvCxnSpPr>
          <p:nvPr/>
        </p:nvCxnSpPr>
        <p:spPr>
          <a:xfrm flipV="1">
            <a:off x="19143031" y="8970963"/>
            <a:ext cx="1470127" cy="5187"/>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14" name="Text Placeholder 4">
            <a:extLst>
              <a:ext uri="{FF2B5EF4-FFF2-40B4-BE49-F238E27FC236}">
                <a16:creationId xmlns:a16="http://schemas.microsoft.com/office/drawing/2014/main" id="{09FC4426-E0E5-2F89-FC09-B05A11D5D3DE}"/>
              </a:ext>
            </a:extLst>
          </p:cNvPr>
          <p:cNvSpPr txBox="1">
            <a:spLocks/>
          </p:cNvSpPr>
          <p:nvPr/>
        </p:nvSpPr>
        <p:spPr>
          <a:xfrm>
            <a:off x="18944205" y="15266654"/>
            <a:ext cx="13210263" cy="752201"/>
          </a:xfrm>
          <a:prstGeom prst="rect">
            <a:avLst/>
          </a:prstGeom>
        </p:spPr>
        <p:txBody>
          <a:bodyPr wrap="square" lIns="91440" tIns="45720" rIns="91440" bIns="45720" anchor="t">
            <a:noAutofit/>
          </a:bodyPr>
          <a:lstStyle>
            <a:lvl1pPr marL="731520" indent="-731520" algn="l" defTabSz="2926080" rtl="0" eaLnBrk="1" latinLnBrk="0" hangingPunct="1">
              <a:lnSpc>
                <a:spcPct val="110000"/>
              </a:lnSpc>
              <a:spcBef>
                <a:spcPts val="2400"/>
              </a:spcBef>
              <a:spcAft>
                <a:spcPts val="50"/>
              </a:spcAft>
              <a:buFont typeface="Arial" panose="020B0604020202020204" pitchFamily="34" charset="0"/>
              <a:buChar char="•"/>
              <a:defRPr sz="1800" kern="1200">
                <a:solidFill>
                  <a:schemeClr val="tx1"/>
                </a:solidFill>
                <a:latin typeface="+mn-lt"/>
                <a:ea typeface="+mn-ea"/>
                <a:cs typeface="+mn-cs"/>
              </a:defRPr>
            </a:lvl1pPr>
            <a:lvl2pPr marL="2194560" indent="-731520" algn="l" defTabSz="2926080" rtl="0" eaLnBrk="1" latinLnBrk="0" hangingPunct="1">
              <a:lnSpc>
                <a:spcPct val="110000"/>
              </a:lnSpc>
              <a:spcBef>
                <a:spcPts val="2400"/>
              </a:spcBef>
              <a:spcAft>
                <a:spcPts val="50"/>
              </a:spcAft>
              <a:buFont typeface="Arial" panose="020B0604020202020204" pitchFamily="34" charset="0"/>
              <a:buChar char="•"/>
              <a:defRPr sz="160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21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190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170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pPr marL="0" indent="0">
              <a:buNone/>
            </a:pPr>
            <a:r>
              <a:rPr lang="en-US" sz="1600" b="1">
                <a:cs typeface="Arial"/>
              </a:rPr>
              <a:t>Figure 3</a:t>
            </a:r>
            <a:r>
              <a:rPr lang="en-CA" altLang="zh-CN" sz="1600" b="1">
                <a:cs typeface="Arial"/>
              </a:rPr>
              <a:t>. SELFIE Application User Interface.</a:t>
            </a:r>
            <a:r>
              <a:rPr lang="en-US" altLang="zh-CN" sz="1600" b="1">
                <a:cs typeface="Arial"/>
              </a:rPr>
              <a:t> </a:t>
            </a:r>
            <a:r>
              <a:rPr lang="en-US" altLang="zh-CN" sz="1600">
                <a:cs typeface="Arial"/>
              </a:rPr>
              <a:t>(a) Landing page, (b) Results display, (c) Patient history tracking, (d) Educational resources. The interface is designed to provide accessible screening, result interpretation, and user guidance.</a:t>
            </a:r>
            <a:r>
              <a:rPr lang="en-CA" altLang="zh-CN" sz="1600">
                <a:cs typeface="Arial"/>
              </a:rPr>
              <a:t> </a:t>
            </a:r>
            <a:r>
              <a:rPr lang="zh-CN" altLang="en-US" sz="1600">
                <a:cs typeface="Arial"/>
              </a:rPr>
              <a:t> </a:t>
            </a:r>
            <a:endParaRPr lang="en-US" sz="1600">
              <a:cs typeface="Arial"/>
            </a:endParaRPr>
          </a:p>
        </p:txBody>
      </p:sp>
      <p:sp>
        <p:nvSpPr>
          <p:cNvPr id="115" name="Text Placeholder 3">
            <a:extLst>
              <a:ext uri="{FF2B5EF4-FFF2-40B4-BE49-F238E27FC236}">
                <a16:creationId xmlns:a16="http://schemas.microsoft.com/office/drawing/2014/main" id="{3731B982-05B8-2805-403E-3658A2314C31}"/>
              </a:ext>
            </a:extLst>
          </p:cNvPr>
          <p:cNvSpPr txBox="1">
            <a:spLocks/>
          </p:cNvSpPr>
          <p:nvPr/>
        </p:nvSpPr>
        <p:spPr>
          <a:xfrm>
            <a:off x="22580303" y="16597241"/>
            <a:ext cx="6194202" cy="643015"/>
          </a:xfrm>
          <a:prstGeom prst="rect">
            <a:avLst/>
          </a:prstGeom>
        </p:spPr>
        <p:txBody>
          <a:bodyPr/>
          <a:lstStyle>
            <a:lvl1pPr marL="0" indent="0" algn="l" defTabSz="2926080" rtl="0" eaLnBrk="1" latinLnBrk="0" hangingPunct="1">
              <a:lnSpc>
                <a:spcPct val="90000"/>
              </a:lnSpc>
              <a:spcBef>
                <a:spcPts val="3200"/>
              </a:spcBef>
              <a:buFont typeface="Arial" panose="020B0604020202020204" pitchFamily="34" charset="0"/>
              <a:buNone/>
              <a:defRPr sz="3000" b="1" kern="1200">
                <a:solidFill>
                  <a:schemeClr val="accent3"/>
                </a:solidFill>
                <a:latin typeface="+mn-lt"/>
                <a:ea typeface="+mn-ea"/>
                <a:cs typeface="+mn-cs"/>
              </a:defRPr>
            </a:lvl1pPr>
            <a:lvl2pPr marL="2194560" indent="-731520" algn="l" defTabSz="2926080" rtl="0" eaLnBrk="1" latinLnBrk="0" hangingPunct="1">
              <a:lnSpc>
                <a:spcPct val="90000"/>
              </a:lnSpc>
              <a:spcBef>
                <a:spcPts val="1600"/>
              </a:spcBef>
              <a:buFont typeface="Arial" panose="020B0604020202020204" pitchFamily="34" charset="0"/>
              <a:buChar char="•"/>
              <a:defRPr sz="768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64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r>
              <a:rPr lang="en-US"/>
              <a:t>Future Considerations </a:t>
            </a:r>
          </a:p>
        </p:txBody>
      </p:sp>
      <p:cxnSp>
        <p:nvCxnSpPr>
          <p:cNvPr id="116" name="Straight Connector 115">
            <a:extLst>
              <a:ext uri="{FF2B5EF4-FFF2-40B4-BE49-F238E27FC236}">
                <a16:creationId xmlns:a16="http://schemas.microsoft.com/office/drawing/2014/main" id="{EB4A549B-8967-6B78-0CCB-EA1E0229F753}"/>
              </a:ext>
            </a:extLst>
          </p:cNvPr>
          <p:cNvCxnSpPr>
            <a:cxnSpLocks/>
          </p:cNvCxnSpPr>
          <p:nvPr/>
        </p:nvCxnSpPr>
        <p:spPr>
          <a:xfrm>
            <a:off x="22661978" y="17240256"/>
            <a:ext cx="4277933" cy="0"/>
          </a:xfrm>
          <a:prstGeom prst="line">
            <a:avLst/>
          </a:prstGeom>
          <a:ln w="50800">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sp>
        <p:nvSpPr>
          <p:cNvPr id="126" name="Text Placeholder 4">
            <a:extLst>
              <a:ext uri="{FF2B5EF4-FFF2-40B4-BE49-F238E27FC236}">
                <a16:creationId xmlns:a16="http://schemas.microsoft.com/office/drawing/2014/main" id="{61A058D3-FE53-054D-6264-B6640549F18E}"/>
              </a:ext>
            </a:extLst>
          </p:cNvPr>
          <p:cNvSpPr txBox="1">
            <a:spLocks/>
          </p:cNvSpPr>
          <p:nvPr/>
        </p:nvSpPr>
        <p:spPr>
          <a:xfrm>
            <a:off x="386389" y="20941476"/>
            <a:ext cx="30324948" cy="401099"/>
          </a:xfrm>
          <a:prstGeom prst="rect">
            <a:avLst/>
          </a:prstGeom>
        </p:spPr>
        <p:txBody>
          <a:bodyPr wrap="square" lIns="91440" tIns="45720" rIns="91440" bIns="45720" anchor="t">
            <a:noAutofit/>
          </a:bodyPr>
          <a:lstStyle>
            <a:lvl1pPr marL="731520" indent="-731520" algn="l" defTabSz="2926080" rtl="0" eaLnBrk="1" latinLnBrk="0" hangingPunct="1">
              <a:lnSpc>
                <a:spcPct val="110000"/>
              </a:lnSpc>
              <a:spcBef>
                <a:spcPts val="2400"/>
              </a:spcBef>
              <a:spcAft>
                <a:spcPts val="50"/>
              </a:spcAft>
              <a:buFont typeface="Arial" panose="020B0604020202020204" pitchFamily="34" charset="0"/>
              <a:buChar char="•"/>
              <a:defRPr sz="1800" kern="1200">
                <a:solidFill>
                  <a:schemeClr val="tx1"/>
                </a:solidFill>
                <a:latin typeface="+mn-lt"/>
                <a:ea typeface="+mn-ea"/>
                <a:cs typeface="+mn-cs"/>
              </a:defRPr>
            </a:lvl1pPr>
            <a:lvl2pPr marL="2194560" indent="-731520" algn="l" defTabSz="2926080" rtl="0" eaLnBrk="1" latinLnBrk="0" hangingPunct="1">
              <a:lnSpc>
                <a:spcPct val="110000"/>
              </a:lnSpc>
              <a:spcBef>
                <a:spcPts val="2400"/>
              </a:spcBef>
              <a:spcAft>
                <a:spcPts val="50"/>
              </a:spcAft>
              <a:buFont typeface="Arial" panose="020B0604020202020204" pitchFamily="34" charset="0"/>
              <a:buChar char="•"/>
              <a:defRPr sz="1600" kern="1200">
                <a:solidFill>
                  <a:schemeClr val="tx1"/>
                </a:solidFill>
                <a:latin typeface="+mn-lt"/>
                <a:ea typeface="+mn-ea"/>
                <a:cs typeface="+mn-cs"/>
              </a:defRPr>
            </a:lvl2pPr>
            <a:lvl3pPr marL="3657600" indent="-731520" algn="l" defTabSz="2926080" rtl="0" eaLnBrk="1" latinLnBrk="0" hangingPunct="1">
              <a:lnSpc>
                <a:spcPct val="90000"/>
              </a:lnSpc>
              <a:spcBef>
                <a:spcPts val="1600"/>
              </a:spcBef>
              <a:buFont typeface="Arial" panose="020B0604020202020204" pitchFamily="34" charset="0"/>
              <a:buChar char="•"/>
              <a:defRPr sz="2100" kern="1200">
                <a:solidFill>
                  <a:schemeClr val="tx1"/>
                </a:solidFill>
                <a:latin typeface="+mn-lt"/>
                <a:ea typeface="+mn-ea"/>
                <a:cs typeface="+mn-cs"/>
              </a:defRPr>
            </a:lvl3pPr>
            <a:lvl4pPr marL="5120640" indent="-731520" algn="l" defTabSz="2926080" rtl="0" eaLnBrk="1" latinLnBrk="0" hangingPunct="1">
              <a:lnSpc>
                <a:spcPct val="90000"/>
              </a:lnSpc>
              <a:spcBef>
                <a:spcPts val="1600"/>
              </a:spcBef>
              <a:buFont typeface="Arial" panose="020B0604020202020204" pitchFamily="34" charset="0"/>
              <a:buChar char="•"/>
              <a:defRPr sz="1900" kern="1200">
                <a:solidFill>
                  <a:schemeClr val="tx1"/>
                </a:solidFill>
                <a:latin typeface="+mn-lt"/>
                <a:ea typeface="+mn-ea"/>
                <a:cs typeface="+mn-cs"/>
              </a:defRPr>
            </a:lvl4pPr>
            <a:lvl5pPr marL="6583680" indent="-731520" algn="l" defTabSz="2926080" rtl="0" eaLnBrk="1" latinLnBrk="0" hangingPunct="1">
              <a:lnSpc>
                <a:spcPct val="90000"/>
              </a:lnSpc>
              <a:spcBef>
                <a:spcPts val="1600"/>
              </a:spcBef>
              <a:buFont typeface="Arial" panose="020B0604020202020204" pitchFamily="34" charset="0"/>
              <a:buChar char="•"/>
              <a:defRPr sz="1700" kern="1200">
                <a:solidFill>
                  <a:schemeClr val="tx1"/>
                </a:solidFill>
                <a:latin typeface="+mn-lt"/>
                <a:ea typeface="+mn-ea"/>
                <a:cs typeface="+mn-cs"/>
              </a:defRPr>
            </a:lvl5pPr>
            <a:lvl6pPr marL="804672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6pPr>
            <a:lvl7pPr marL="950976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7pPr>
            <a:lvl8pPr marL="1097280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8pPr>
            <a:lvl9pPr marL="12435840" indent="-731520" algn="l" defTabSz="2926080" rtl="0" eaLnBrk="1" latinLnBrk="0" hangingPunct="1">
              <a:lnSpc>
                <a:spcPct val="90000"/>
              </a:lnSpc>
              <a:spcBef>
                <a:spcPts val="1600"/>
              </a:spcBef>
              <a:buFont typeface="Arial" panose="020B0604020202020204" pitchFamily="34" charset="0"/>
              <a:buChar char="•"/>
              <a:defRPr sz="5760" kern="1200">
                <a:solidFill>
                  <a:schemeClr val="tx1"/>
                </a:solidFill>
                <a:latin typeface="+mn-lt"/>
                <a:ea typeface="+mn-ea"/>
                <a:cs typeface="+mn-cs"/>
              </a:defRPr>
            </a:lvl9pPr>
          </a:lstStyle>
          <a:p>
            <a:pPr marL="0" indent="0">
              <a:spcBef>
                <a:spcPts val="0"/>
              </a:spcBef>
              <a:buNone/>
            </a:pPr>
            <a:r>
              <a:rPr lang="en-US" sz="1200" b="1">
                <a:cs typeface="Arial"/>
              </a:rPr>
              <a:t>References</a:t>
            </a:r>
            <a:r>
              <a:rPr lang="en-US" sz="900" b="1">
                <a:cs typeface="Arial"/>
              </a:rPr>
              <a:t>:  </a:t>
            </a:r>
            <a:r>
              <a:rPr lang="en-US" sz="900">
                <a:cs typeface="Arial"/>
              </a:rPr>
              <a:t>[1] World Health Organization, “Oral health,” Fact Sheet, 2025. [Online]. Available: https://www.who.int/news-room/fact-sheets/detail/oral-health. Accessed: Oct. 24, 2025. </a:t>
            </a:r>
          </a:p>
          <a:p>
            <a:pPr marL="0" indent="0">
              <a:spcBef>
                <a:spcPts val="0"/>
              </a:spcBef>
              <a:buNone/>
            </a:pPr>
            <a:r>
              <a:rPr lang="en-US" sz="900">
                <a:cs typeface="Arial"/>
              </a:rPr>
              <a:t>[2] G. Isola et al., “Periodontal health and disease in the context of systemic …”, *Journal Name*, 2023. [Online]. Available: https://pmc.ncbi.nlm.nih.gov/articles/PMC10199803/. Accessed: Oct. 24, 2025. </a:t>
            </a:r>
          </a:p>
          <a:p>
            <a:pPr marL="0" indent="0">
              <a:spcBef>
                <a:spcPts val="0"/>
              </a:spcBef>
              <a:buNone/>
            </a:pPr>
            <a:r>
              <a:rPr lang="en-US" sz="900">
                <a:cs typeface="Arial"/>
              </a:rPr>
              <a:t>[3] Institute of Medicine (US) &amp; National Research Council (US) Committee on Oral Health Access to Services, *Oral Health in America: Advances and Challenges*, National Academies Press (US), 2021. [Online]. Available: https://www.ncbi.nlm.nih.gov/books/NBK576536/. Accessed: Oct. 24, 2025. </a:t>
            </a:r>
          </a:p>
          <a:p>
            <a:pPr marL="0" indent="0">
              <a:spcBef>
                <a:spcPts val="0"/>
              </a:spcBef>
              <a:buNone/>
            </a:pPr>
            <a:r>
              <a:rPr lang="en-US" sz="900">
                <a:cs typeface="Arial"/>
              </a:rPr>
              <a:t>[4] “Early detection and treatment of dental issues: The key to optimal oral health and well-being,” Excel Dental, [Online]. Available: https://exceldental.ca/general-dentistry/early-detection-and-treatment-of-dental-issues-the-key-to-optimal-oral-health-and-well-being/. Accessed: Oct. 24, 2025. </a:t>
            </a:r>
          </a:p>
        </p:txBody>
      </p:sp>
      <p:pic>
        <p:nvPicPr>
          <p:cNvPr id="1044" name="Picture 20">
            <a:extLst>
              <a:ext uri="{FF2B5EF4-FFF2-40B4-BE49-F238E27FC236}">
                <a16:creationId xmlns:a16="http://schemas.microsoft.com/office/drawing/2014/main" id="{EC984B8D-3272-8069-6C8E-FA4A09B2610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l="2098" r="53" b="-1818"/>
          <a:stretch>
            <a:fillRect/>
          </a:stretch>
        </p:blipFill>
        <p:spPr bwMode="auto">
          <a:xfrm>
            <a:off x="27779674" y="752501"/>
            <a:ext cx="4408508" cy="1471490"/>
          </a:xfrm>
          <a:prstGeom prst="rect">
            <a:avLst/>
          </a:pr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38F44127-AD8A-F354-BFC9-48F967822D30}"/>
              </a:ext>
            </a:extLst>
          </p:cNvPr>
          <p:cNvSpPr>
            <a:spLocks noGrp="1"/>
          </p:cNvSpPr>
          <p:nvPr>
            <p:ph type="body" sz="quarter" idx="19"/>
          </p:nvPr>
        </p:nvSpPr>
        <p:spPr>
          <a:xfrm>
            <a:off x="28243716" y="2200104"/>
            <a:ext cx="3379437" cy="304078"/>
          </a:xfrm>
        </p:spPr>
        <p:txBody>
          <a:bodyPr/>
          <a:lstStyle/>
          <a:p>
            <a:r>
              <a:rPr lang="en-US" b="1"/>
              <a:t>Jasmine Wang &amp; </a:t>
            </a:r>
            <a:r>
              <a:rPr lang="en-US" b="1" err="1"/>
              <a:t>Ruidi</a:t>
            </a:r>
            <a:r>
              <a:rPr lang="en-US" b="1"/>
              <a:t> Liu</a:t>
            </a:r>
          </a:p>
        </p:txBody>
      </p:sp>
      <p:pic>
        <p:nvPicPr>
          <p:cNvPr id="20" name="Picture 19">
            <a:extLst>
              <a:ext uri="{FF2B5EF4-FFF2-40B4-BE49-F238E27FC236}">
                <a16:creationId xmlns:a16="http://schemas.microsoft.com/office/drawing/2014/main" id="{99455C5B-A852-A61D-9B4B-1DAB53305504}"/>
              </a:ext>
            </a:extLst>
          </p:cNvPr>
          <p:cNvPicPr>
            <a:picLocks noChangeAspect="1"/>
          </p:cNvPicPr>
          <p:nvPr/>
        </p:nvPicPr>
        <p:blipFill>
          <a:blip r:embed="rId9"/>
          <a:stretch>
            <a:fillRect/>
          </a:stretch>
        </p:blipFill>
        <p:spPr>
          <a:xfrm>
            <a:off x="29144785" y="9202413"/>
            <a:ext cx="3009683" cy="5955990"/>
          </a:xfrm>
          <a:prstGeom prst="rect">
            <a:avLst/>
          </a:prstGeom>
          <a:ln w="15875">
            <a:solidFill>
              <a:schemeClr val="tx1">
                <a:lumMod val="25000"/>
                <a:lumOff val="75000"/>
              </a:schemeClr>
            </a:solidFill>
          </a:ln>
        </p:spPr>
      </p:pic>
      <p:pic>
        <p:nvPicPr>
          <p:cNvPr id="22" name="Picture 21">
            <a:extLst>
              <a:ext uri="{FF2B5EF4-FFF2-40B4-BE49-F238E27FC236}">
                <a16:creationId xmlns:a16="http://schemas.microsoft.com/office/drawing/2014/main" id="{C8ED2AF9-5FA8-CA54-63C2-C1E6CB481379}"/>
              </a:ext>
            </a:extLst>
          </p:cNvPr>
          <p:cNvPicPr>
            <a:picLocks noChangeAspect="1"/>
          </p:cNvPicPr>
          <p:nvPr/>
        </p:nvPicPr>
        <p:blipFill>
          <a:blip r:embed="rId10"/>
          <a:stretch>
            <a:fillRect/>
          </a:stretch>
        </p:blipFill>
        <p:spPr>
          <a:xfrm>
            <a:off x="1203593" y="15640910"/>
            <a:ext cx="7510368" cy="4087271"/>
          </a:xfrm>
          <a:prstGeom prst="rect">
            <a:avLst/>
          </a:prstGeom>
        </p:spPr>
      </p:pic>
      <p:sp>
        <p:nvSpPr>
          <p:cNvPr id="24" name="Rectangle 2">
            <a:extLst>
              <a:ext uri="{FF2B5EF4-FFF2-40B4-BE49-F238E27FC236}">
                <a16:creationId xmlns:a16="http://schemas.microsoft.com/office/drawing/2014/main" id="{80502A1D-38D2-C018-0E9C-5FF8006DA293}"/>
              </a:ext>
            </a:extLst>
          </p:cNvPr>
          <p:cNvSpPr>
            <a:spLocks noChangeArrowheads="1"/>
          </p:cNvSpPr>
          <p:nvPr/>
        </p:nvSpPr>
        <p:spPr bwMode="auto">
          <a:xfrm>
            <a:off x="1075358" y="4526058"/>
            <a:ext cx="7698558" cy="4247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Oral diseases affect </a:t>
            </a:r>
            <a:r>
              <a:rPr kumimoji="0" lang="en-US" altLang="en-US" sz="1800" b="1" i="0" u="none" strike="noStrike" cap="none" normalizeH="0" baseline="0">
                <a:ln>
                  <a:noFill/>
                </a:ln>
                <a:solidFill>
                  <a:schemeClr val="tx1"/>
                </a:solidFill>
                <a:effectLst/>
                <a:latin typeface="Arial" panose="020B0604020202020204" pitchFamily="34" charset="0"/>
              </a:rPr>
              <a:t>~3.7 billion people worldwide</a:t>
            </a:r>
            <a:r>
              <a:rPr lang="en-US" altLang="en-US" b="1">
                <a:latin typeface="Arial" panose="020B0604020202020204" pitchFamily="34" charset="0"/>
              </a:rPr>
              <a:t> </a:t>
            </a:r>
            <a:r>
              <a:rPr lang="en-US" altLang="en-US">
                <a:latin typeface="Arial" panose="020B0604020202020204" pitchFamily="34" charset="0"/>
              </a:rPr>
              <a:t>[1]</a:t>
            </a:r>
            <a:endParaRPr kumimoji="0" lang="en-US" altLang="en-US" sz="1800" i="0" u="none" strike="noStrike" cap="none" normalizeH="0" baseline="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Untreated conditions can reduce </a:t>
            </a:r>
            <a:r>
              <a:rPr kumimoji="0" lang="en-US" altLang="en-US" sz="1800" b="1" i="0" u="none" strike="noStrike" cap="none" normalizeH="0" baseline="0">
                <a:ln>
                  <a:noFill/>
                </a:ln>
                <a:solidFill>
                  <a:schemeClr val="tx1"/>
                </a:solidFill>
                <a:effectLst/>
                <a:latin typeface="Arial" panose="020B0604020202020204" pitchFamily="34" charset="0"/>
              </a:rPr>
              <a:t>quality of life</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indent="-285750" defTabSz="914400" eaLnBrk="0" fontAlgn="base" hangingPunct="0">
              <a:spcBef>
                <a:spcPct val="0"/>
              </a:spcBef>
              <a:spcAft>
                <a:spcPct val="0"/>
              </a:spcAft>
              <a:buFont typeface="Arial" panose="020B0604020202020204" pitchFamily="34" charset="0"/>
              <a:buChar char="•"/>
            </a:pPr>
            <a:r>
              <a:rPr kumimoji="0" lang="en-US" altLang="en-US" sz="1800" b="0" i="0" u="none" strike="noStrike" cap="none" normalizeH="0" baseline="0">
                <a:ln>
                  <a:noFill/>
                </a:ln>
                <a:solidFill>
                  <a:schemeClr val="tx1"/>
                </a:solidFill>
                <a:effectLst/>
                <a:latin typeface="Arial" panose="020B0604020202020204" pitchFamily="34" charset="0"/>
              </a:rPr>
              <a:t>Many cases are </a:t>
            </a:r>
            <a:r>
              <a:rPr kumimoji="0" lang="en-US" altLang="en-US" sz="1800" b="1" i="0" u="none" strike="noStrike" cap="none" normalizeH="0" baseline="0">
                <a:ln>
                  <a:noFill/>
                </a:ln>
                <a:solidFill>
                  <a:schemeClr val="tx1"/>
                </a:solidFill>
                <a:effectLst/>
                <a:latin typeface="Arial" panose="020B0604020202020204" pitchFamily="34" charset="0"/>
              </a:rPr>
              <a:t>preventable</a:t>
            </a:r>
            <a:r>
              <a:rPr kumimoji="0" lang="en-US" altLang="en-US" sz="1800" b="0" i="0" u="none" strike="noStrike" cap="none" normalizeH="0" baseline="0">
                <a:ln>
                  <a:noFill/>
                </a:ln>
                <a:solidFill>
                  <a:schemeClr val="tx1"/>
                </a:solidFill>
                <a:effectLst/>
                <a:latin typeface="Arial" panose="020B0604020202020204" pitchFamily="34" charset="0"/>
              </a:rPr>
              <a:t>, but care is delayed due to [2]</a:t>
            </a:r>
            <a:r>
              <a:rPr lang="en-US" altLang="en-US">
                <a:latin typeface="Arial" panose="020B0604020202020204" pitchFamily="34" charset="0"/>
              </a:rPr>
              <a:t>[3]</a:t>
            </a:r>
            <a:endParaRPr kumimoji="0" lang="en-US" altLang="en-US" sz="1800" b="0" i="0" u="none" strike="noStrike" cap="none" normalizeH="0" baseline="0">
              <a:ln>
                <a:noFill/>
              </a:ln>
              <a:solidFill>
                <a:schemeClr val="tx1"/>
              </a:solidFill>
              <a:effectLst/>
              <a:latin typeface="Arial" panose="020B0604020202020204" pitchFamily="34" charset="0"/>
            </a:endParaRP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Cost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Limited access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Lack of awareness </a:t>
            </a:r>
          </a:p>
          <a:p>
            <a:pPr marL="742950" lvl="1" indent="-285750" defTabSz="914400" eaLnBrk="0" fontAlgn="base" hangingPunct="0">
              <a:spcBef>
                <a:spcPct val="0"/>
              </a:spcBef>
              <a:spcAft>
                <a:spcPct val="0"/>
              </a:spcAft>
              <a:buFont typeface="Arial" panose="020B0604020202020204" pitchFamily="34" charset="0"/>
              <a:buChar char="•"/>
            </a:pPr>
            <a:r>
              <a:rPr lang="en-US" altLang="en-US">
                <a:latin typeface="Arial" panose="020B0604020202020204" pitchFamily="34" charset="0"/>
              </a:rPr>
              <a:t>D</a:t>
            </a:r>
            <a:r>
              <a:rPr lang="en-US" altLang="zh-CN">
                <a:latin typeface="Arial" panose="020B0604020202020204" pitchFamily="34" charset="0"/>
              </a:rPr>
              <a:t>ental anxiety</a:t>
            </a:r>
            <a:endParaRPr kumimoji="0" lang="en-US" altLang="en-US" b="0" i="0" u="none" strike="noStrike" cap="none" normalizeH="0" baseline="0">
              <a:ln>
                <a:noFill/>
              </a:ln>
              <a:solidFill>
                <a:schemeClr val="tx1"/>
              </a:solidFill>
              <a:effectLst/>
              <a:latin typeface="Arial" panose="020B0604020202020204" pitchFamily="34" charset="0"/>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1" i="0" u="none" strike="noStrike" cap="none" normalizeH="0" baseline="0">
                <a:ln>
                  <a:noFill/>
                </a:ln>
                <a:solidFill>
                  <a:schemeClr val="tx1"/>
                </a:solidFill>
                <a:effectLst/>
                <a:latin typeface="Arial" panose="020B0604020202020204" pitchFamily="34" charset="0"/>
              </a:rPr>
              <a:t>Early detection is critical</a:t>
            </a:r>
            <a:r>
              <a:rPr kumimoji="0" lang="en-US" altLang="en-US" sz="1800" b="0" i="0" u="none" strike="noStrike" cap="none" normalizeH="0" baseline="0">
                <a:ln>
                  <a:noFill/>
                </a:ln>
                <a:solidFill>
                  <a:schemeClr val="tx1"/>
                </a:solidFill>
                <a:effectLst/>
                <a:latin typeface="Arial" panose="020B0604020202020204" pitchFamily="34" charset="0"/>
              </a:rPr>
              <a:t> </a:t>
            </a:r>
            <a:r>
              <a:rPr kumimoji="0" lang="en-US" altLang="en-US" b="0" i="0" u="none" strike="noStrike" cap="none" normalizeH="0" baseline="0">
                <a:ln>
                  <a:noFill/>
                </a:ln>
                <a:solidFill>
                  <a:schemeClr val="tx1"/>
                </a:solidFill>
                <a:effectLst/>
                <a:latin typeface="Arial" panose="020B0604020202020204" pitchFamily="34" charset="0"/>
              </a:rPr>
              <a:t>Enables simpler treatment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Improves long-term outcomes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Traditional diagnosis requires </a:t>
            </a:r>
            <a:r>
              <a:rPr kumimoji="0" lang="en-US" altLang="en-US" sz="1800" b="1" i="0" u="none" strike="noStrike" cap="none" normalizeH="0" baseline="0">
                <a:ln>
                  <a:noFill/>
                </a:ln>
                <a:solidFill>
                  <a:schemeClr val="tx1"/>
                </a:solidFill>
                <a:effectLst/>
                <a:latin typeface="Arial" panose="020B0604020202020204" pitchFamily="34" charset="0"/>
              </a:rPr>
              <a:t>clinic visits &amp; equipment</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1" i="0" u="none" strike="noStrike" cap="none" normalizeH="0" baseline="0">
                <a:ln>
                  <a:noFill/>
                </a:ln>
                <a:solidFill>
                  <a:schemeClr val="tx1"/>
                </a:solidFill>
                <a:effectLst/>
                <a:latin typeface="Arial" panose="020B0604020202020204" pitchFamily="34" charset="0"/>
              </a:rPr>
              <a:t>Proposed solution:</a:t>
            </a:r>
            <a:r>
              <a:rPr kumimoji="0" lang="en-US" altLang="en-US" sz="1800" b="0" i="0" u="none" strike="noStrike" cap="none" normalizeH="0" baseline="0">
                <a:ln>
                  <a:noFill/>
                </a:ln>
                <a:solidFill>
                  <a:schemeClr val="tx1"/>
                </a:solidFill>
                <a:effectLst/>
                <a:latin typeface="Arial" panose="020B0604020202020204" pitchFamily="34" charset="0"/>
              </a:rPr>
              <a: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Mobile-based screening system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Image-based deep learning + risk questionnaire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Improves </a:t>
            </a:r>
            <a:r>
              <a:rPr kumimoji="0" lang="en-US" altLang="en-US" b="1" i="0" u="none" strike="noStrike" cap="none" normalizeH="0" baseline="0">
                <a:ln>
                  <a:noFill/>
                </a:ln>
                <a:solidFill>
                  <a:schemeClr val="tx1"/>
                </a:solidFill>
                <a:effectLst/>
                <a:latin typeface="Arial" panose="020B0604020202020204" pitchFamily="34" charset="0"/>
              </a:rPr>
              <a:t>accessibility and early detection</a:t>
            </a:r>
            <a:endParaRPr kumimoji="0" lang="en-US" altLang="en-US"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25" name="Rectangle 3">
            <a:extLst>
              <a:ext uri="{FF2B5EF4-FFF2-40B4-BE49-F238E27FC236}">
                <a16:creationId xmlns:a16="http://schemas.microsoft.com/office/drawing/2014/main" id="{F1F8F010-60DB-3BB6-049A-7B0FC00EABB8}"/>
              </a:ext>
            </a:extLst>
          </p:cNvPr>
          <p:cNvSpPr>
            <a:spLocks noChangeArrowheads="1"/>
          </p:cNvSpPr>
          <p:nvPr/>
        </p:nvSpPr>
        <p:spPr bwMode="auto">
          <a:xfrm>
            <a:off x="1225720" y="9874784"/>
            <a:ext cx="7409892"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Develop a </a:t>
            </a:r>
            <a:r>
              <a:rPr kumimoji="0" lang="en-US" altLang="en-US" sz="1800" b="1" i="0" u="none" strike="noStrike" cap="none" normalizeH="0" baseline="0">
                <a:ln>
                  <a:noFill/>
                </a:ln>
                <a:solidFill>
                  <a:schemeClr val="tx1"/>
                </a:solidFill>
                <a:effectLst/>
                <a:latin typeface="Arial" panose="020B0604020202020204" pitchFamily="34" charset="0"/>
              </a:rPr>
              <a:t>hybrid system</a:t>
            </a:r>
            <a:r>
              <a:rPr kumimoji="0" lang="en-US" altLang="en-US" sz="1800" b="0" i="0" u="none" strike="noStrike" cap="none" normalizeH="0" baseline="0">
                <a:ln>
                  <a:noFill/>
                </a:ln>
                <a:solidFill>
                  <a:schemeClr val="tx1"/>
                </a:solidFill>
                <a:effectLst/>
                <a:latin typeface="Arial" panose="020B0604020202020204" pitchFamily="34" charset="0"/>
              </a:rPr>
              <a:t> for detecting common oral conditions </a:t>
            </a:r>
          </a:p>
          <a:p>
            <a:pPr marL="285750" marR="0" lvl="0" indent="-28575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Targets: calculus, caries, gingivitis, tooth discoloration </a:t>
            </a:r>
          </a:p>
          <a:p>
            <a:pPr marL="285750" marR="0" lvl="0" indent="-28575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Combines: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Image-based deep learning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Questionnaire-based risk assessment </a:t>
            </a:r>
          </a:p>
          <a:p>
            <a:pPr marL="285750" marR="0" lvl="0" indent="-28575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Designed to be </a:t>
            </a:r>
            <a:r>
              <a:rPr kumimoji="0" lang="en-US" altLang="en-US" sz="1800" b="1" i="0" u="none" strike="noStrike" cap="none" normalizeH="0" baseline="0">
                <a:ln>
                  <a:noFill/>
                </a:ln>
                <a:solidFill>
                  <a:schemeClr val="tx1"/>
                </a:solidFill>
                <a:effectLst/>
                <a:latin typeface="Arial" panose="020B0604020202020204" pitchFamily="34" charset="0"/>
              </a:rPr>
              <a:t>accessible and low-cost</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Supports </a:t>
            </a:r>
            <a:r>
              <a:rPr kumimoji="0" lang="en-US" altLang="en-US" sz="1800" b="1" i="0" u="none" strike="noStrike" cap="none" normalizeH="0" baseline="0">
                <a:ln>
                  <a:noFill/>
                </a:ln>
                <a:solidFill>
                  <a:schemeClr val="tx1"/>
                </a:solidFill>
                <a:effectLst/>
                <a:latin typeface="Arial" panose="020B0604020202020204" pitchFamily="34" charset="0"/>
              </a:rPr>
              <a:t>early detection and awareness</a:t>
            </a:r>
            <a:r>
              <a:rPr kumimoji="0" lang="en-US" altLang="en-US" sz="1800" b="0" i="0" u="none" strike="noStrike" cap="none" normalizeH="0" baseline="0">
                <a:ln>
                  <a:noFill/>
                </a:ln>
                <a:solidFill>
                  <a:schemeClr val="tx1"/>
                </a:solidFill>
                <a:effectLst/>
                <a:latin typeface="Arial" panose="020B0604020202020204" pitchFamily="34" charset="0"/>
              </a:rPr>
              <a:t> [4]</a:t>
            </a:r>
          </a:p>
          <a:p>
            <a:pPr marL="285750" marR="0" lvl="0" indent="-285750" algn="l" defTabSz="914400" rtl="0" eaLnBrk="0" fontAlgn="base" latinLnBrk="0" hangingPunct="0">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Focuses on people with </a:t>
            </a:r>
            <a:r>
              <a:rPr kumimoji="0" lang="en-US" altLang="en-US" sz="1800" b="1" i="0" u="none" strike="noStrike" cap="none" normalizeH="0" baseline="0">
                <a:ln>
                  <a:noFill/>
                </a:ln>
                <a:solidFill>
                  <a:schemeClr val="tx1"/>
                </a:solidFill>
                <a:effectLst/>
                <a:latin typeface="Arial" panose="020B0604020202020204" pitchFamily="34" charset="0"/>
              </a:rPr>
              <a:t>limited access to dental care</a:t>
            </a:r>
            <a:r>
              <a:rPr kumimoji="0" lang="en-US" altLang="en-US" sz="1800" b="0" i="0" u="none" strike="noStrike" cap="none" normalizeH="0" baseline="0">
                <a:ln>
                  <a:noFill/>
                </a:ln>
                <a:solidFill>
                  <a:schemeClr val="tx1"/>
                </a:solidFill>
                <a:effectLst/>
                <a:latin typeface="Arial" panose="020B0604020202020204" pitchFamily="34" charset="0"/>
              </a:rPr>
              <a:t> </a:t>
            </a:r>
          </a:p>
        </p:txBody>
      </p:sp>
      <p:sp>
        <p:nvSpPr>
          <p:cNvPr id="26" name="Rectangle 4">
            <a:extLst>
              <a:ext uri="{FF2B5EF4-FFF2-40B4-BE49-F238E27FC236}">
                <a16:creationId xmlns:a16="http://schemas.microsoft.com/office/drawing/2014/main" id="{F4414CD1-8F72-EA18-0691-6149C62B0D51}"/>
              </a:ext>
            </a:extLst>
          </p:cNvPr>
          <p:cNvSpPr>
            <a:spLocks noChangeArrowheads="1"/>
          </p:cNvSpPr>
          <p:nvPr/>
        </p:nvSpPr>
        <p:spPr bwMode="auto">
          <a:xfrm>
            <a:off x="988009" y="13383180"/>
            <a:ext cx="6976096"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lang="en-US" altLang="en-US" b="1">
                <a:latin typeface="Arial" panose="020B0604020202020204" pitchFamily="34" charset="0"/>
              </a:rPr>
              <a:t>Client Server Architecture:</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User inputs: </a:t>
            </a:r>
            <a:r>
              <a:rPr kumimoji="0" lang="en-US" altLang="en-US" i="0" u="none" strike="noStrike" cap="none" normalizeH="0" baseline="0">
                <a:ln>
                  <a:noFill/>
                </a:ln>
                <a:solidFill>
                  <a:schemeClr val="tx1"/>
                </a:solidFill>
                <a:effectLst/>
                <a:latin typeface="Arial" panose="020B0604020202020204" pitchFamily="34" charset="0"/>
              </a:rPr>
              <a:t>oral image + questionnaire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1" i="0" u="none" strike="noStrike" cap="none" normalizeH="0" baseline="0">
                <a:ln>
                  <a:noFill/>
                </a:ln>
                <a:solidFill>
                  <a:schemeClr val="tx1"/>
                </a:solidFill>
                <a:effectLst/>
                <a:latin typeface="Arial" panose="020B0604020202020204" pitchFamily="34" charset="0"/>
              </a:rPr>
              <a:t>Image</a:t>
            </a:r>
            <a:r>
              <a:rPr kumimoji="0" lang="en-US" altLang="en-US" sz="1800" b="0" i="0" u="none" strike="noStrike" cap="none" normalizeH="0" baseline="0">
                <a:ln>
                  <a:noFill/>
                </a:ln>
                <a:solidFill>
                  <a:schemeClr val="tx1"/>
                </a:solidFill>
                <a:effectLst/>
                <a:latin typeface="Arial" panose="020B0604020202020204" pitchFamily="34" charset="0"/>
              </a:rPr>
              <a:t> → </a:t>
            </a:r>
            <a:r>
              <a:rPr kumimoji="0" lang="en-US" altLang="en-US" sz="1800" i="0" u="none" strike="noStrike" cap="none" normalizeH="0" baseline="0">
                <a:ln>
                  <a:noFill/>
                </a:ln>
                <a:solidFill>
                  <a:schemeClr val="tx1"/>
                </a:solidFill>
                <a:effectLst/>
                <a:latin typeface="Arial" panose="020B0604020202020204" pitchFamily="34" charset="0"/>
              </a:rPr>
              <a:t>deep learning model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1" i="0" u="none" strike="noStrike" cap="none" normalizeH="0" baseline="0">
                <a:ln>
                  <a:noFill/>
                </a:ln>
                <a:solidFill>
                  <a:schemeClr val="tx1"/>
                </a:solidFill>
                <a:effectLst/>
                <a:latin typeface="Arial" panose="020B0604020202020204" pitchFamily="34" charset="0"/>
              </a:rPr>
              <a:t>Responses</a:t>
            </a:r>
            <a:r>
              <a:rPr kumimoji="0" lang="en-US" altLang="en-US" sz="1800" i="0" u="none" strike="noStrike" cap="none" normalizeH="0" baseline="0">
                <a:ln>
                  <a:noFill/>
                </a:ln>
                <a:solidFill>
                  <a:schemeClr val="tx1"/>
                </a:solidFill>
                <a:effectLst/>
                <a:latin typeface="Arial" panose="020B0604020202020204" pitchFamily="34" charset="0"/>
              </a:rPr>
              <a:t> → risk assessment decision tree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Outputs combined via </a:t>
            </a:r>
            <a:r>
              <a:rPr kumimoji="0" lang="en-US" altLang="en-US" sz="1800" b="1" i="0" u="none" strike="noStrike" cap="none" normalizeH="0" baseline="0">
                <a:ln>
                  <a:noFill/>
                </a:ln>
                <a:solidFill>
                  <a:schemeClr val="tx1"/>
                </a:solidFill>
                <a:effectLst/>
                <a:latin typeface="Arial" panose="020B0604020202020204" pitchFamily="34" charset="0"/>
              </a:rPr>
              <a:t>fusion layer</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a:ln>
                  <a:noFill/>
                </a:ln>
                <a:solidFill>
                  <a:schemeClr val="tx1"/>
                </a:solidFill>
                <a:effectLst/>
                <a:latin typeface="Arial" panose="020B0604020202020204" pitchFamily="34" charset="0"/>
              </a:rPr>
              <a:t>Risk results + personalized recommendations </a:t>
            </a:r>
            <a:r>
              <a:rPr kumimoji="0" lang="en-US" altLang="en-US" sz="1800" b="0" i="0" u="none" strike="noStrike" cap="none" normalizeH="0" baseline="0">
                <a:ln>
                  <a:noFill/>
                </a:ln>
                <a:solidFill>
                  <a:schemeClr val="tx1"/>
                </a:solidFill>
                <a:effectLst/>
                <a:latin typeface="Arial" panose="020B0604020202020204" pitchFamily="34" charset="0"/>
              </a:rPr>
              <a:t>shown to user </a:t>
            </a:r>
          </a:p>
        </p:txBody>
      </p:sp>
      <p:sp>
        <p:nvSpPr>
          <p:cNvPr id="27" name="Rectangle 5">
            <a:extLst>
              <a:ext uri="{FF2B5EF4-FFF2-40B4-BE49-F238E27FC236}">
                <a16:creationId xmlns:a16="http://schemas.microsoft.com/office/drawing/2014/main" id="{E0437D06-203A-7CD3-0698-962D90537822}"/>
              </a:ext>
            </a:extLst>
          </p:cNvPr>
          <p:cNvSpPr>
            <a:spLocks noChangeArrowheads="1"/>
          </p:cNvSpPr>
          <p:nvPr/>
        </p:nvSpPr>
        <p:spPr bwMode="auto">
          <a:xfrm>
            <a:off x="9782123" y="4382316"/>
            <a:ext cx="6524696" cy="17543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1" i="0" u="none" strike="noStrike" cap="none" normalizeH="0" baseline="0">
                <a:ln>
                  <a:noFill/>
                </a:ln>
                <a:solidFill>
                  <a:schemeClr val="tx1"/>
                </a:solidFill>
                <a:effectLst/>
                <a:latin typeface="Arial" panose="020B0604020202020204" pitchFamily="34" charset="0"/>
              </a:rPr>
              <a:t>Input validation stage</a:t>
            </a:r>
            <a:r>
              <a:rPr kumimoji="0" lang="en-US" altLang="en-US" sz="1800" b="0" i="0" u="none" strike="noStrike" cap="none" normalizeH="0" baseline="0">
                <a:ln>
                  <a:noFill/>
                </a:ln>
                <a:solidFill>
                  <a:schemeClr val="tx1"/>
                </a:solidFill>
                <a:effectLst/>
                <a:latin typeface="Arial" panose="020B0604020202020204" pitchFamily="34" charset="0"/>
              </a:rPr>
              <a:t> ensures reliable predictions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Image quality checked (clarity, contrast)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Pre-filter verifies </a:t>
            </a:r>
            <a:r>
              <a:rPr kumimoji="0" lang="en-US" altLang="en-US" sz="1800" b="1" i="0" u="none" strike="noStrike" cap="none" normalizeH="0" baseline="0">
                <a:ln>
                  <a:noFill/>
                </a:ln>
                <a:solidFill>
                  <a:schemeClr val="tx1"/>
                </a:solidFill>
                <a:effectLst/>
                <a:latin typeface="Arial" panose="020B0604020202020204" pitchFamily="34" charset="0"/>
              </a:rPr>
              <a:t>teeth and gumline presence</a:t>
            </a:r>
            <a:r>
              <a:rPr kumimoji="0" lang="en-US" altLang="en-US" sz="1800" b="0" i="0" u="none" strike="noStrike" cap="none" normalizeH="0" baseline="0">
                <a:ln>
                  <a:noFill/>
                </a:ln>
                <a:solidFill>
                  <a:schemeClr val="tx1"/>
                </a:solidFill>
                <a:effectLst/>
                <a:latin typeface="Arial" panose="020B0604020202020204" pitchFamily="34" charset="0"/>
              </a:rPr>
              <a: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Invalid images are </a:t>
            </a:r>
            <a:r>
              <a:rPr kumimoji="0" lang="en-US" altLang="en-US" b="1" i="0" u="none" strike="noStrike" cap="none" normalizeH="0" baseline="0">
                <a:ln>
                  <a:noFill/>
                </a:ln>
                <a:solidFill>
                  <a:schemeClr val="tx1"/>
                </a:solidFill>
                <a:effectLst/>
                <a:latin typeface="Arial" panose="020B0604020202020204" pitchFamily="34" charset="0"/>
              </a:rPr>
              <a:t>rejected early</a:t>
            </a:r>
            <a:r>
              <a:rPr kumimoji="0" lang="en-US" altLang="en-US" b="0" i="0" u="none" strike="noStrike" cap="none" normalizeH="0" baseline="0">
                <a:ln>
                  <a:noFill/>
                </a:ln>
                <a:solidFill>
                  <a:schemeClr val="tx1"/>
                </a:solidFill>
                <a:effectLst/>
                <a:latin typeface="Arial" panose="020B0604020202020204" pitchFamily="34" charset="0"/>
              </a:rPr>
              <a: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Valid images sent to </a:t>
            </a:r>
            <a:r>
              <a:rPr kumimoji="0" lang="en-US" altLang="en-US" b="1" i="0" u="none" strike="noStrike" cap="none" normalizeH="0" baseline="0">
                <a:ln>
                  <a:noFill/>
                </a:ln>
                <a:solidFill>
                  <a:schemeClr val="tx1"/>
                </a:solidFill>
                <a:effectLst/>
                <a:latin typeface="Arial" panose="020B0604020202020204" pitchFamily="34" charset="0"/>
              </a:rPr>
              <a:t>classification model</a:t>
            </a:r>
            <a:r>
              <a:rPr kumimoji="0" lang="en-US" altLang="en-US"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Reduces false predictions, improves reliability </a:t>
            </a:r>
          </a:p>
        </p:txBody>
      </p:sp>
      <p:sp>
        <p:nvSpPr>
          <p:cNvPr id="30" name="Rectangle 6">
            <a:extLst>
              <a:ext uri="{FF2B5EF4-FFF2-40B4-BE49-F238E27FC236}">
                <a16:creationId xmlns:a16="http://schemas.microsoft.com/office/drawing/2014/main" id="{D4BB7ECF-B0B3-1E43-3728-26113CAE75EC}"/>
              </a:ext>
            </a:extLst>
          </p:cNvPr>
          <p:cNvSpPr>
            <a:spLocks noChangeArrowheads="1"/>
          </p:cNvSpPr>
          <p:nvPr/>
        </p:nvSpPr>
        <p:spPr bwMode="auto">
          <a:xfrm>
            <a:off x="9748965" y="7287084"/>
            <a:ext cx="8142496" cy="36933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Visual model based on </a:t>
            </a:r>
            <a:r>
              <a:rPr kumimoji="0" lang="en-US" altLang="en-US" sz="1800" b="1" i="0" u="none" strike="noStrike" cap="none" normalizeH="0" baseline="0">
                <a:ln>
                  <a:noFill/>
                </a:ln>
                <a:solidFill>
                  <a:schemeClr val="tx1"/>
                </a:solidFill>
                <a:effectLst/>
                <a:latin typeface="Arial" panose="020B0604020202020204" pitchFamily="34" charset="0"/>
              </a:rPr>
              <a:t>MobileNetV3 Small (transfer learning)</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Designed for </a:t>
            </a:r>
            <a:r>
              <a:rPr kumimoji="0" lang="en-US" altLang="en-US" sz="1800" i="0" u="none" strike="noStrike" cap="none" normalizeH="0" baseline="0">
                <a:ln>
                  <a:noFill/>
                </a:ln>
                <a:solidFill>
                  <a:schemeClr val="tx1"/>
                </a:solidFill>
                <a:effectLst/>
                <a:latin typeface="Arial" panose="020B0604020202020204" pitchFamily="34" charset="0"/>
              </a:rPr>
              <a:t>efficient oral image analysis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Images processed: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Resized to </a:t>
            </a:r>
            <a:r>
              <a:rPr kumimoji="0" lang="en-US" altLang="en-US" b="1" i="0" u="none" strike="noStrike" cap="none" normalizeH="0" baseline="0">
                <a:ln>
                  <a:noFill/>
                </a:ln>
                <a:solidFill>
                  <a:schemeClr val="tx1"/>
                </a:solidFill>
                <a:effectLst/>
                <a:latin typeface="Arial" panose="020B0604020202020204" pitchFamily="34" charset="0"/>
              </a:rPr>
              <a:t>224 × 224</a:t>
            </a:r>
            <a:r>
              <a:rPr kumimoji="0" lang="en-US" altLang="en-US" b="0" i="0" u="none" strike="noStrike" cap="none" normalizeH="0" baseline="0">
                <a:ln>
                  <a:noFill/>
                </a:ln>
                <a:solidFill>
                  <a:schemeClr val="tx1"/>
                </a:solidFill>
                <a:effectLst/>
                <a:latin typeface="Arial" panose="020B0604020202020204" pitchFamily="34" charset="0"/>
              </a:rPr>
              <a: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Normalized (ImageNet statistics)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Augmented (rotation, flipping, brightness)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Architecture: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1" i="0" u="none" strike="noStrike" cap="none" normalizeH="0" baseline="0">
                <a:ln>
                  <a:noFill/>
                </a:ln>
                <a:solidFill>
                  <a:schemeClr val="tx1"/>
                </a:solidFill>
                <a:effectLst/>
                <a:latin typeface="Arial" panose="020B0604020202020204" pitchFamily="34" charset="0"/>
              </a:rPr>
              <a:t>Frozen backbone</a:t>
            </a:r>
            <a:r>
              <a:rPr kumimoji="0" lang="en-US" altLang="en-US" b="0" i="0" u="none" strike="noStrike" cap="none" normalizeH="0" baseline="0">
                <a:ln>
                  <a:noFill/>
                </a:ln>
                <a:solidFill>
                  <a:schemeClr val="tx1"/>
                </a:solidFill>
                <a:effectLst/>
                <a:latin typeface="Arial" panose="020B0604020202020204" pitchFamily="34" charset="0"/>
              </a:rPr>
              <a:t> </a:t>
            </a:r>
          </a:p>
          <a:p>
            <a:pPr marL="1200150" lvl="2"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Custom classifier head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Uses </a:t>
            </a:r>
            <a:r>
              <a:rPr kumimoji="0" lang="en-US" altLang="en-US" sz="1800" b="1" i="0" u="none" strike="noStrike" cap="none" normalizeH="0" baseline="0">
                <a:ln>
                  <a:noFill/>
                </a:ln>
                <a:solidFill>
                  <a:schemeClr val="tx1"/>
                </a:solidFill>
                <a:effectLst/>
                <a:latin typeface="Arial" panose="020B0604020202020204" pitchFamily="34" charset="0"/>
              </a:rPr>
              <a:t>masked multi-label approach</a:t>
            </a:r>
            <a:r>
              <a:rPr kumimoji="0" lang="en-US" altLang="en-US" sz="1800" b="0" i="0" u="none" strike="noStrike" cap="none" normalizeH="0" baseline="0">
                <a:ln>
                  <a:noFill/>
                </a:ln>
                <a:solidFill>
                  <a:schemeClr val="tx1"/>
                </a:solidFill>
                <a:effectLst/>
                <a:latin typeface="Arial" panose="020B0604020202020204" pitchFamily="34" charset="0"/>
              </a:rPr>
              <a: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Relevant labels used</a:t>
            </a:r>
            <a:r>
              <a:rPr kumimoji="0" lang="zh-CN" altLang="en-US" b="0" i="0" u="none" strike="noStrike" cap="none" normalizeH="0" baseline="0">
                <a:ln>
                  <a:noFill/>
                </a:ln>
                <a:solidFill>
                  <a:schemeClr val="tx1"/>
                </a:solidFill>
                <a:effectLst/>
                <a:latin typeface="Arial" panose="020B0604020202020204" pitchFamily="34" charset="0"/>
              </a:rPr>
              <a:t>；</a:t>
            </a:r>
            <a:r>
              <a:rPr kumimoji="0" lang="en-US" altLang="en-US" b="0" i="0" u="none" strike="noStrike" cap="none" normalizeH="0" baseline="0">
                <a:ln>
                  <a:noFill/>
                </a:ln>
                <a:solidFill>
                  <a:schemeClr val="tx1"/>
                </a:solidFill>
                <a:effectLst/>
                <a:latin typeface="Arial" panose="020B0604020202020204" pitchFamily="34" charset="0"/>
              </a:rPr>
              <a:t>Unrelated labels ignored (-1)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Trained with </a:t>
            </a:r>
            <a:r>
              <a:rPr kumimoji="0" lang="en-US" altLang="en-US" b="1" i="0" u="none" strike="noStrike" cap="none" normalizeH="0" baseline="0">
                <a:ln>
                  <a:noFill/>
                </a:ln>
                <a:solidFill>
                  <a:schemeClr val="tx1"/>
                </a:solidFill>
                <a:effectLst/>
                <a:latin typeface="Arial" panose="020B0604020202020204" pitchFamily="34" charset="0"/>
              </a:rPr>
              <a:t>masked binary cross-entropy</a:t>
            </a:r>
            <a:r>
              <a:rPr kumimoji="0" lang="en-US" altLang="en-US"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Optimized using </a:t>
            </a:r>
            <a:r>
              <a:rPr kumimoji="0" lang="en-US" altLang="en-US" sz="1800" i="0" u="none" strike="noStrike" cap="none" normalizeH="0" baseline="0">
                <a:ln>
                  <a:noFill/>
                </a:ln>
                <a:solidFill>
                  <a:schemeClr val="tx1"/>
                </a:solidFill>
                <a:effectLst/>
                <a:latin typeface="Arial" panose="020B0604020202020204" pitchFamily="34" charset="0"/>
              </a:rPr>
              <a:t>Adam optimizer </a:t>
            </a:r>
            <a:r>
              <a:rPr kumimoji="0" lang="en-US" altLang="en-US" sz="1800" b="0" i="0" u="none" strike="noStrike" cap="none" normalizeH="0" baseline="0">
                <a:ln>
                  <a:noFill/>
                </a:ln>
                <a:solidFill>
                  <a:schemeClr val="tx1"/>
                </a:solidFill>
                <a:effectLst/>
                <a:latin typeface="Arial" panose="020B0604020202020204" pitchFamily="34" charset="0"/>
              </a:rPr>
              <a:t>for stable learning </a:t>
            </a:r>
          </a:p>
        </p:txBody>
      </p:sp>
      <p:sp>
        <p:nvSpPr>
          <p:cNvPr id="31" name="Rectangle 7">
            <a:extLst>
              <a:ext uri="{FF2B5EF4-FFF2-40B4-BE49-F238E27FC236}">
                <a16:creationId xmlns:a16="http://schemas.microsoft.com/office/drawing/2014/main" id="{20791D3A-D835-FABF-721D-0BE7D73B53AD}"/>
              </a:ext>
            </a:extLst>
          </p:cNvPr>
          <p:cNvSpPr>
            <a:spLocks noChangeArrowheads="1"/>
          </p:cNvSpPr>
          <p:nvPr/>
        </p:nvSpPr>
        <p:spPr bwMode="auto">
          <a:xfrm>
            <a:off x="9782123" y="12933249"/>
            <a:ext cx="7940312"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Questionnaire model estimates </a:t>
            </a:r>
            <a:r>
              <a:rPr kumimoji="0" lang="en-US" altLang="en-US" sz="1800" b="1" i="0" u="none" strike="noStrike" cap="none" normalizeH="0" baseline="0">
                <a:ln>
                  <a:noFill/>
                </a:ln>
                <a:solidFill>
                  <a:schemeClr val="tx1"/>
                </a:solidFill>
                <a:effectLst/>
                <a:latin typeface="Arial" panose="020B0604020202020204" pitchFamily="34" charset="0"/>
              </a:rPr>
              <a:t>risk from patient inputs</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Inputs: hygiene, sugar intake, dental visits, symptoms</a:t>
            </a:r>
            <a:r>
              <a:rPr lang="en-US" altLang="en-US">
                <a:latin typeface="Arial" panose="020B0604020202020204" pitchFamily="34" charset="0"/>
              </a:rPr>
              <a:t>, history etc.</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Responses form a </a:t>
            </a:r>
            <a:r>
              <a:rPr kumimoji="0" lang="en-US" altLang="en-US" sz="1800" b="1" i="0" u="none" strike="noStrike" cap="none" normalizeH="0" baseline="0">
                <a:ln>
                  <a:noFill/>
                </a:ln>
                <a:solidFill>
                  <a:schemeClr val="tx1"/>
                </a:solidFill>
                <a:effectLst/>
                <a:latin typeface="Arial" panose="020B0604020202020204" pitchFamily="34" charset="0"/>
              </a:rPr>
              <a:t>weighted risk score</a:t>
            </a:r>
            <a:r>
              <a:rPr kumimoji="0" lang="en-US" altLang="en-US" sz="1800" b="0" i="0" u="none" strike="noStrike" cap="none" normalizeH="0" baseline="0">
                <a:ln>
                  <a:noFill/>
                </a:ln>
                <a:solidFill>
                  <a:schemeClr val="tx1"/>
                </a:solidFill>
                <a:effectLst/>
                <a:latin typeface="Arial" panose="020B0604020202020204" pitchFamily="34" charset="0"/>
              </a:rPr>
              <a:t> </a:t>
            </a:r>
          </a:p>
          <a:p>
            <a:pPr marL="742950" lvl="1" indent="-285750" defTabSz="914400" eaLnBrk="0" fontAlgn="base" hangingPunct="0">
              <a:spcBef>
                <a:spcPct val="0"/>
              </a:spcBef>
              <a:spcAft>
                <a:spcPct val="0"/>
              </a:spcAft>
              <a:buFont typeface="Arial" panose="020B0604020202020204" pitchFamily="34" charset="0"/>
              <a:buChar char="•"/>
            </a:pPr>
            <a:r>
              <a:rPr kumimoji="0" lang="en-US" altLang="en-US" b="0" i="0" u="none" strike="noStrike" cap="none" normalizeH="0" baseline="0">
                <a:ln>
                  <a:noFill/>
                </a:ln>
                <a:solidFill>
                  <a:schemeClr val="tx1"/>
                </a:solidFill>
                <a:effectLst/>
                <a:latin typeface="Arial" panose="020B0604020202020204" pitchFamily="34" charset="0"/>
              </a:rPr>
              <a:t>Converted to probabilities using </a:t>
            </a:r>
            <a:r>
              <a:rPr kumimoji="0" lang="en-US" altLang="en-US" b="1" i="0" u="none" strike="noStrike" cap="none" normalizeH="0" baseline="0">
                <a:ln>
                  <a:noFill/>
                </a:ln>
                <a:solidFill>
                  <a:schemeClr val="tx1"/>
                </a:solidFill>
                <a:effectLst/>
                <a:latin typeface="Arial" panose="020B0604020202020204" pitchFamily="34" charset="0"/>
              </a:rPr>
              <a:t>sigmoid function</a:t>
            </a:r>
            <a:r>
              <a:rPr kumimoji="0" lang="en-US" altLang="en-US"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Captures </a:t>
            </a:r>
            <a:r>
              <a:rPr kumimoji="0" lang="en-US" altLang="en-US" sz="1800" b="1" i="0" u="none" strike="noStrike" cap="none" normalizeH="0" baseline="0">
                <a:ln>
                  <a:noFill/>
                </a:ln>
                <a:solidFill>
                  <a:schemeClr val="tx1"/>
                </a:solidFill>
                <a:effectLst/>
                <a:latin typeface="Arial" panose="020B0604020202020204" pitchFamily="34" charset="0"/>
              </a:rPr>
              <a:t>non-visual risk factors</a:t>
            </a:r>
            <a:r>
              <a:rPr kumimoji="0" lang="en-US" altLang="en-US" sz="1800" b="0" i="0" u="none" strike="noStrike" cap="none" normalizeH="0" baseline="0">
                <a:ln>
                  <a:noFill/>
                </a:ln>
                <a:solidFill>
                  <a:schemeClr val="tx1"/>
                </a:solidFill>
                <a:effectLst/>
                <a:latin typeface="Arial" panose="020B0604020202020204" pitchFamily="34" charset="0"/>
              </a:rPr>
              <a:t> to increase generalizability</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Combined with image model via </a:t>
            </a:r>
            <a:r>
              <a:rPr kumimoji="0" lang="en-US" altLang="en-US" sz="1800" b="1" i="0" u="none" strike="noStrike" cap="none" normalizeH="0" baseline="0">
                <a:ln>
                  <a:noFill/>
                </a:ln>
                <a:solidFill>
                  <a:schemeClr val="tx1"/>
                </a:solidFill>
                <a:effectLst/>
                <a:latin typeface="Arial" panose="020B0604020202020204" pitchFamily="34" charset="0"/>
              </a:rPr>
              <a:t>weighted fusion</a:t>
            </a:r>
            <a:r>
              <a:rPr kumimoji="0" lang="en-US" altLang="en-US" sz="1800" b="0" i="0" u="none" strike="noStrike" cap="none" normalizeH="0" baseline="0">
                <a:ln>
                  <a:noFill/>
                </a:ln>
                <a:solidFill>
                  <a:schemeClr val="tx1"/>
                </a:solidFill>
                <a:effectLst/>
                <a:latin typeface="Arial" panose="020B0604020202020204" pitchFamily="34" charset="0"/>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0" i="0" u="none" strike="noStrike" cap="none" normalizeH="0" baseline="0">
                <a:ln>
                  <a:noFill/>
                </a:ln>
                <a:solidFill>
                  <a:schemeClr val="tx1"/>
                </a:solidFill>
                <a:effectLst/>
                <a:latin typeface="Arial" panose="020B0604020202020204" pitchFamily="34" charset="0"/>
              </a:rPr>
              <a:t>Outputs </a:t>
            </a:r>
            <a:r>
              <a:rPr kumimoji="0" lang="en-US" altLang="en-US" sz="1800" b="1" i="0" u="none" strike="noStrike" cap="none" normalizeH="0" baseline="0">
                <a:ln>
                  <a:noFill/>
                </a:ln>
                <a:solidFill>
                  <a:schemeClr val="tx1"/>
                </a:solidFill>
                <a:effectLst/>
                <a:latin typeface="Arial" panose="020B0604020202020204" pitchFamily="34" charset="0"/>
              </a:rPr>
              <a:t>final risk predictions</a:t>
            </a:r>
            <a:r>
              <a:rPr kumimoji="0" lang="en-US" altLang="en-US" sz="1800" b="0" i="0" u="none" strike="noStrike" cap="none" normalizeH="0" baseline="0">
                <a:ln>
                  <a:noFill/>
                </a:ln>
                <a:solidFill>
                  <a:schemeClr val="tx1"/>
                </a:solidFill>
                <a:effectLst/>
                <a:latin typeface="Arial" panose="020B0604020202020204" pitchFamily="34" charset="0"/>
              </a:rPr>
              <a:t> </a:t>
            </a:r>
          </a:p>
        </p:txBody>
      </p:sp>
      <p:sp>
        <p:nvSpPr>
          <p:cNvPr id="49" name="TextBox 48">
            <a:extLst>
              <a:ext uri="{FF2B5EF4-FFF2-40B4-BE49-F238E27FC236}">
                <a16:creationId xmlns:a16="http://schemas.microsoft.com/office/drawing/2014/main" id="{56CA763E-5C3E-45EC-6B25-1D789C6B3B1A}"/>
              </a:ext>
            </a:extLst>
          </p:cNvPr>
          <p:cNvSpPr txBox="1"/>
          <p:nvPr/>
        </p:nvSpPr>
        <p:spPr>
          <a:xfrm>
            <a:off x="19143031" y="4332645"/>
            <a:ext cx="12354056" cy="3416320"/>
          </a:xfrm>
          <a:prstGeom prst="rect">
            <a:avLst/>
          </a:prstGeom>
          <a:noFill/>
        </p:spPr>
        <p:txBody>
          <a:bodyPr wrap="square">
            <a:spAutoFit/>
          </a:bodyPr>
          <a:lstStyle/>
          <a:p>
            <a:pPr marL="285750" indent="-285750">
              <a:buFont typeface="Arial" panose="020B0604020202020204" pitchFamily="34" charset="0"/>
              <a:buChar char="•"/>
            </a:pPr>
            <a:r>
              <a:rPr lang="en-CA"/>
              <a:t>Mobile-First Design</a:t>
            </a:r>
          </a:p>
          <a:p>
            <a:pPr marL="742950" lvl="1" indent="-285750">
              <a:buFont typeface="Arial" panose="020B0604020202020204" pitchFamily="34" charset="0"/>
              <a:buChar char="•"/>
            </a:pPr>
            <a:r>
              <a:rPr lang="en-CA"/>
              <a:t> Intuitive, accessible experience using </a:t>
            </a:r>
            <a:r>
              <a:rPr lang="en-CA" b="1"/>
              <a:t>React Native (Expo Go)</a:t>
            </a:r>
            <a:r>
              <a:rPr lang="en-CA"/>
              <a:t> </a:t>
            </a:r>
          </a:p>
          <a:p>
            <a:endParaRPr lang="en-CA"/>
          </a:p>
          <a:p>
            <a:pPr marL="285750" indent="-285750">
              <a:buFont typeface="Arial" panose="020B0604020202020204" pitchFamily="34" charset="0"/>
              <a:buChar char="•"/>
            </a:pPr>
            <a:r>
              <a:rPr lang="en-CA" b="1"/>
              <a:t>Frontend (React JS/TS)</a:t>
            </a:r>
            <a:r>
              <a:rPr lang="en-CA"/>
              <a:t> handles UI, collects images and questionnaire responses </a:t>
            </a:r>
          </a:p>
          <a:p>
            <a:pPr marL="742950" lvl="1" indent="-285750">
              <a:buFont typeface="Arial" panose="020B0604020202020204" pitchFamily="34" charset="0"/>
              <a:buChar char="•"/>
            </a:pPr>
            <a:r>
              <a:rPr lang="en-CA"/>
              <a:t>Sends data to backend via secure </a:t>
            </a:r>
            <a:r>
              <a:rPr lang="en-CA" b="1"/>
              <a:t>REST API</a:t>
            </a:r>
            <a:r>
              <a:rPr lang="en-CA"/>
              <a:t> </a:t>
            </a:r>
          </a:p>
          <a:p>
            <a:pPr marL="285750" indent="-285750">
              <a:buFont typeface="Arial" panose="020B0604020202020204" pitchFamily="34" charset="0"/>
              <a:buChar char="•"/>
            </a:pPr>
            <a:r>
              <a:rPr lang="en-CA" b="1"/>
              <a:t>Backend (</a:t>
            </a:r>
            <a:r>
              <a:rPr lang="en-CA" b="1" err="1"/>
              <a:t>FastAPI</a:t>
            </a:r>
            <a:r>
              <a:rPr lang="en-CA" b="1"/>
              <a:t>)</a:t>
            </a:r>
            <a:r>
              <a:rPr lang="en-CA"/>
              <a:t> performs image preprocessing and AI inference efficiently </a:t>
            </a:r>
          </a:p>
          <a:p>
            <a:pPr marL="742950" lvl="1" indent="-285750">
              <a:buFont typeface="Arial" panose="020B0604020202020204" pitchFamily="34" charset="0"/>
              <a:buChar char="•"/>
            </a:pPr>
            <a:r>
              <a:rPr lang="en-CA" b="1"/>
              <a:t>G</a:t>
            </a:r>
            <a:r>
              <a:rPr lang="en-CA"/>
              <a:t>enerates probability scores and detected oral conditions before sending back to the front end for display </a:t>
            </a:r>
          </a:p>
          <a:p>
            <a:pPr marL="285750" indent="-285750">
              <a:buFont typeface="Arial" panose="020B0604020202020204" pitchFamily="34" charset="0"/>
              <a:buChar char="•"/>
            </a:pPr>
            <a:r>
              <a:rPr lang="en-CA"/>
              <a:t>Results Display shows risk levels, detected conditions, and recommendations </a:t>
            </a:r>
          </a:p>
          <a:p>
            <a:pPr marL="285750" indent="-285750">
              <a:buFont typeface="Arial" panose="020B0604020202020204" pitchFamily="34" charset="0"/>
              <a:buChar char="•"/>
            </a:pPr>
            <a:endParaRPr lang="en-CA"/>
          </a:p>
          <a:p>
            <a:pPr marL="285750" indent="-285750">
              <a:buFont typeface="Arial" panose="020B0604020202020204" pitchFamily="34" charset="0"/>
              <a:buChar char="•"/>
            </a:pPr>
            <a:r>
              <a:rPr lang="en-CA" b="1"/>
              <a:t>Testing &amp; Iteration: </a:t>
            </a:r>
            <a:r>
              <a:rPr lang="en-CA"/>
              <a:t>paper prototypes → Figma → working application </a:t>
            </a:r>
          </a:p>
          <a:p>
            <a:pPr marL="1200150" lvl="2" indent="-285750">
              <a:buFont typeface="Arial" panose="020B0604020202020204" pitchFamily="34" charset="0"/>
              <a:buChar char="•"/>
            </a:pPr>
            <a:r>
              <a:rPr lang="en-CA"/>
              <a:t>User Feedback collected continuously to improve interface and workflow </a:t>
            </a:r>
          </a:p>
          <a:p>
            <a:pPr marL="285750" indent="-285750">
              <a:buFont typeface="Arial" panose="020B0604020202020204" pitchFamily="34" charset="0"/>
              <a:buChar char="•"/>
            </a:pPr>
            <a:r>
              <a:rPr lang="en-CA" b="1"/>
              <a:t>Scalability, Maintainability &amp; Focus</a:t>
            </a:r>
            <a:r>
              <a:rPr lang="en-CA"/>
              <a:t>, separation simplifies updates, ensures user-centric design </a:t>
            </a:r>
          </a:p>
        </p:txBody>
      </p:sp>
      <p:sp>
        <p:nvSpPr>
          <p:cNvPr id="55" name="TextBox 54">
            <a:extLst>
              <a:ext uri="{FF2B5EF4-FFF2-40B4-BE49-F238E27FC236}">
                <a16:creationId xmlns:a16="http://schemas.microsoft.com/office/drawing/2014/main" id="{548B1745-8613-2B8E-6BE0-DFCD1C72A4C9}"/>
              </a:ext>
            </a:extLst>
          </p:cNvPr>
          <p:cNvSpPr txBox="1"/>
          <p:nvPr/>
        </p:nvSpPr>
        <p:spPr>
          <a:xfrm>
            <a:off x="22370290" y="17580790"/>
            <a:ext cx="9729049" cy="2585323"/>
          </a:xfrm>
          <a:prstGeom prst="rect">
            <a:avLst/>
          </a:prstGeom>
          <a:noFill/>
        </p:spPr>
        <p:txBody>
          <a:bodyPr wrap="square">
            <a:spAutoFit/>
          </a:bodyPr>
          <a:lstStyle/>
          <a:p>
            <a:pPr marL="285750" indent="-285750">
              <a:buFont typeface="Arial" panose="020B0604020202020204" pitchFamily="34" charset="0"/>
              <a:buChar char="•"/>
            </a:pPr>
            <a:r>
              <a:rPr lang="en-US"/>
              <a:t>Future work will focus on </a:t>
            </a:r>
            <a:r>
              <a:rPr lang="en-US" b="1"/>
              <a:t>expanding the dataset </a:t>
            </a:r>
            <a:r>
              <a:rPr lang="en-US"/>
              <a:t>with fully labeled conditions, improving model performance and learning relationships between co-occurring diseases. </a:t>
            </a:r>
          </a:p>
          <a:p>
            <a:pPr marL="742950" lvl="1" indent="-285750">
              <a:buFont typeface="Arial" panose="020B0604020202020204" pitchFamily="34" charset="0"/>
              <a:buChar char="•"/>
            </a:pPr>
            <a:r>
              <a:rPr lang="en-US"/>
              <a:t>Addition of more oral conditions, extending diagnostic capabilities. </a:t>
            </a:r>
          </a:p>
          <a:p>
            <a:pPr marL="742950" lvl="1" indent="-285750">
              <a:buFont typeface="Arial" panose="020B0604020202020204" pitchFamily="34" charset="0"/>
              <a:buChar char="•"/>
            </a:pPr>
            <a:endParaRPr lang="en-US"/>
          </a:p>
          <a:p>
            <a:pPr marL="285750" indent="-285750">
              <a:buFont typeface="Arial" panose="020B0604020202020204" pitchFamily="34" charset="0"/>
              <a:buChar char="•"/>
            </a:pPr>
            <a:r>
              <a:rPr lang="en-US"/>
              <a:t>Incorporating </a:t>
            </a:r>
            <a:r>
              <a:rPr lang="en-US" b="1"/>
              <a:t>condition-specific thresholds </a:t>
            </a:r>
            <a:r>
              <a:rPr lang="en-US"/>
              <a:t>to reduce false positives while maintaining high sensitivity. </a:t>
            </a:r>
          </a:p>
          <a:p>
            <a:pPr marL="285750" indent="-285750">
              <a:buFont typeface="Arial" panose="020B0604020202020204" pitchFamily="34" charset="0"/>
              <a:buChar char="•"/>
            </a:pPr>
            <a:endParaRPr lang="en-US"/>
          </a:p>
          <a:p>
            <a:pPr marL="285750" indent="-285750">
              <a:buFont typeface="Arial" panose="020B0604020202020204" pitchFamily="34" charset="0"/>
              <a:buChar char="•"/>
            </a:pPr>
            <a:r>
              <a:rPr lang="en-US"/>
              <a:t>Future development may include </a:t>
            </a:r>
            <a:r>
              <a:rPr lang="en-US" b="1"/>
              <a:t>real-world deployment</a:t>
            </a:r>
            <a:r>
              <a:rPr lang="en-US"/>
              <a:t>, user interface design improvement, and system integration into mobile health platforms for broader accessibility.</a:t>
            </a:r>
            <a:endParaRPr lang="en-CA"/>
          </a:p>
        </p:txBody>
      </p:sp>
      <p:pic>
        <p:nvPicPr>
          <p:cNvPr id="59" name="Picture 58">
            <a:extLst>
              <a:ext uri="{FF2B5EF4-FFF2-40B4-BE49-F238E27FC236}">
                <a16:creationId xmlns:a16="http://schemas.microsoft.com/office/drawing/2014/main" id="{ACF0768F-6FE4-9BC9-039C-8974F05B0AA2}"/>
              </a:ext>
            </a:extLst>
          </p:cNvPr>
          <p:cNvPicPr>
            <a:picLocks noChangeAspect="1"/>
          </p:cNvPicPr>
          <p:nvPr/>
        </p:nvPicPr>
        <p:blipFill>
          <a:blip r:embed="rId11"/>
          <a:stretch>
            <a:fillRect/>
          </a:stretch>
        </p:blipFill>
        <p:spPr>
          <a:xfrm>
            <a:off x="19071522" y="9157495"/>
            <a:ext cx="2866778" cy="5892657"/>
          </a:xfrm>
          <a:prstGeom prst="rect">
            <a:avLst/>
          </a:prstGeom>
          <a:ln w="15875">
            <a:solidFill>
              <a:schemeClr val="tx1">
                <a:lumMod val="25000"/>
                <a:lumOff val="75000"/>
              </a:schemeClr>
            </a:solidFill>
          </a:ln>
        </p:spPr>
      </p:pic>
      <p:pic>
        <p:nvPicPr>
          <p:cNvPr id="61" name="Picture 60">
            <a:extLst>
              <a:ext uri="{FF2B5EF4-FFF2-40B4-BE49-F238E27FC236}">
                <a16:creationId xmlns:a16="http://schemas.microsoft.com/office/drawing/2014/main" id="{4FDF8216-FF56-23D9-E562-FF359D5BECB9}"/>
              </a:ext>
            </a:extLst>
          </p:cNvPr>
          <p:cNvPicPr>
            <a:picLocks noChangeAspect="1"/>
          </p:cNvPicPr>
          <p:nvPr/>
        </p:nvPicPr>
        <p:blipFill>
          <a:blip r:embed="rId12"/>
          <a:stretch>
            <a:fillRect/>
          </a:stretch>
        </p:blipFill>
        <p:spPr>
          <a:xfrm>
            <a:off x="25853479" y="9083242"/>
            <a:ext cx="2769017" cy="5995845"/>
          </a:xfrm>
          <a:prstGeom prst="rect">
            <a:avLst/>
          </a:prstGeom>
          <a:ln w="15875">
            <a:solidFill>
              <a:schemeClr val="tx1">
                <a:lumMod val="25000"/>
                <a:lumOff val="75000"/>
              </a:schemeClr>
            </a:solidFill>
          </a:ln>
        </p:spPr>
      </p:pic>
      <p:pic>
        <p:nvPicPr>
          <p:cNvPr id="63" name="Picture 62">
            <a:extLst>
              <a:ext uri="{FF2B5EF4-FFF2-40B4-BE49-F238E27FC236}">
                <a16:creationId xmlns:a16="http://schemas.microsoft.com/office/drawing/2014/main" id="{BF36E301-8332-C530-F2A6-132F4088D75D}"/>
              </a:ext>
            </a:extLst>
          </p:cNvPr>
          <p:cNvPicPr>
            <a:picLocks noChangeAspect="1"/>
          </p:cNvPicPr>
          <p:nvPr/>
        </p:nvPicPr>
        <p:blipFill>
          <a:blip r:embed="rId13"/>
          <a:stretch>
            <a:fillRect/>
          </a:stretch>
        </p:blipFill>
        <p:spPr>
          <a:xfrm>
            <a:off x="22540852" y="9137170"/>
            <a:ext cx="2744112" cy="5941917"/>
          </a:xfrm>
          <a:prstGeom prst="rect">
            <a:avLst/>
          </a:prstGeom>
          <a:ln w="15875">
            <a:solidFill>
              <a:schemeClr val="tx1">
                <a:lumMod val="25000"/>
                <a:lumOff val="75000"/>
              </a:schemeClr>
            </a:solidFill>
          </a:ln>
        </p:spPr>
      </p:pic>
    </p:spTree>
    <p:extLst>
      <p:ext uri="{BB962C8B-B14F-4D97-AF65-F5344CB8AC3E}">
        <p14:creationId xmlns:p14="http://schemas.microsoft.com/office/powerpoint/2010/main" val="162353563"/>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Office Theme">
  <a:themeElements>
    <a:clrScheme name="McMaster Main Colours">
      <a:dk1>
        <a:srgbClr val="0F0F0F"/>
      </a:dk1>
      <a:lt1>
        <a:srgbClr val="FFFFFF"/>
      </a:lt1>
      <a:dk2>
        <a:srgbClr val="FFFFFF"/>
      </a:dk2>
      <a:lt2>
        <a:srgbClr val="FFFFFF"/>
      </a:lt2>
      <a:accent1>
        <a:srgbClr val="79003C"/>
      </a:accent1>
      <a:accent2>
        <a:srgbClr val="FDBF57"/>
      </a:accent2>
      <a:accent3>
        <a:srgbClr val="495965"/>
      </a:accent3>
      <a:accent4>
        <a:srgbClr val="CC99CC"/>
      </a:accent4>
      <a:accent5>
        <a:srgbClr val="0D5D78"/>
      </a:accent5>
      <a:accent6>
        <a:srgbClr val="000000"/>
      </a:accent6>
      <a:hlink>
        <a:srgbClr val="79003C"/>
      </a:hlink>
      <a:folHlink>
        <a:srgbClr val="2A0014"/>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3DDB52CC986514EB0E136AF141B7FA5" ma:contentTypeVersion="8" ma:contentTypeDescription="Create a new document." ma:contentTypeScope="" ma:versionID="6a9180a58ae7eec4af1eec6368a2f798">
  <xsd:schema xmlns:xsd="http://www.w3.org/2001/XMLSchema" xmlns:xs="http://www.w3.org/2001/XMLSchema" xmlns:p="http://schemas.microsoft.com/office/2006/metadata/properties" xmlns:ns2="eaa4f277-e76f-4897-80fb-0ec52f575f1f" targetNamespace="http://schemas.microsoft.com/office/2006/metadata/properties" ma:root="true" ma:fieldsID="2d473af0c76f006061f1b30c2911b294" ns2:_="">
    <xsd:import namespace="eaa4f277-e76f-4897-80fb-0ec52f575f1f"/>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aa4f277-e76f-4897-80fb-0ec52f575f1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057E0297-F6A6-4B9D-AAB0-1963DBEEC381}">
  <ds:schemaRefs>
    <ds:schemaRef ds:uri="http://schemas.microsoft.com/sharepoint/v3/contenttype/forms"/>
  </ds:schemaRefs>
</ds:datastoreItem>
</file>

<file path=customXml/itemProps2.xml><?xml version="1.0" encoding="utf-8"?>
<ds:datastoreItem xmlns:ds="http://schemas.openxmlformats.org/officeDocument/2006/customXml" ds:itemID="{0F2D9D4C-B2FD-4FE7-9C77-92B5D0DB9D6E}">
  <ds:schemaRefs>
    <ds:schemaRef ds:uri="eaa4f277-e76f-4897-80fb-0ec52f575f1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D6F01A8-AA6A-4C34-BC32-D096A6915099}">
  <ds:schemaRefs>
    <ds:schemaRef ds:uri="eaa4f277-e76f-4897-80fb-0ec52f575f1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Custom</PresentationFormat>
  <Slides>1</Slides>
  <Notes>1</Notes>
  <HiddenSlides>0</HiddenSlides>
  <ScaleCrop>false</ScaleCrop>
  <HeadingPairs>
    <vt:vector size="4" baseType="variant">
      <vt:variant>
        <vt:lpstr>Theme</vt:lpstr>
      </vt:variant>
      <vt:variant>
        <vt:i4>1</vt:i4>
      </vt:variant>
      <vt:variant>
        <vt:lpstr>Slide Titles</vt:lpstr>
      </vt:variant>
      <vt:variant>
        <vt:i4>1</vt:i4>
      </vt:variant>
    </vt:vector>
  </HeadingPairs>
  <TitlesOfParts>
    <vt:vector size="2" baseType="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Izokaitis</dc:creator>
  <cp:revision>2</cp:revision>
  <dcterms:created xsi:type="dcterms:W3CDTF">2024-04-16T11:19:42Z</dcterms:created>
  <dcterms:modified xsi:type="dcterms:W3CDTF">2026-04-07T02:29:35Z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0x01010073DDB52CC986514EB0E136AF141B7FA5</vt:lpwstr>
  </property>
  <property fmtid="{D5CDD505-2E9C-101B-9397-08002B2CF9AE}" pid="3" name="Order">
    <vt:lpwstr>4524800.00000000</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